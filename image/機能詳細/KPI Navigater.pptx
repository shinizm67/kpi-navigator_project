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60" r:id="rId2"/>
    <p:sldId id="258" r:id="rId3"/>
    <p:sldId id="256" r:id="rId4"/>
    <p:sldId id="257" r:id="rId5"/>
    <p:sldId id="259" r:id="rId6"/>
  </p:sldIdLst>
  <p:sldSz cx="6858000" cy="12192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4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392"/>
    <p:restoredTop sz="94508"/>
  </p:normalViewPr>
  <p:slideViewPr>
    <p:cSldViewPr snapToGrid="0" showGuides="1">
      <p:cViewPr>
        <p:scale>
          <a:sx n="158" d="100"/>
          <a:sy n="158" d="100"/>
        </p:scale>
        <p:origin x="664" y="144"/>
      </p:cViewPr>
      <p:guideLst>
        <p:guide orient="horz" pos="384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995312"/>
            <a:ext cx="5829300" cy="4244622"/>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6403623"/>
            <a:ext cx="5143500" cy="2943577"/>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18553784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40691381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3039537"/>
            <a:ext cx="5915025" cy="5071532"/>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8159048"/>
            <a:ext cx="5915025" cy="266699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2295290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3245556"/>
            <a:ext cx="2914650" cy="773571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3245556"/>
            <a:ext cx="2914650" cy="773571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226199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649114"/>
            <a:ext cx="5915025" cy="235655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988734"/>
            <a:ext cx="2901255" cy="146473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4453467"/>
            <a:ext cx="2901255" cy="6550379"/>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988734"/>
            <a:ext cx="2915543" cy="146473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4453467"/>
            <a:ext cx="2915543" cy="6550379"/>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3766890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4823077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2984363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812800"/>
            <a:ext cx="2211884" cy="28448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755425"/>
            <a:ext cx="3471863" cy="866422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3657600"/>
            <a:ext cx="2211884" cy="677615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6387794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812800"/>
            <a:ext cx="2211884" cy="28448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755425"/>
            <a:ext cx="3471863" cy="8664222"/>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3657600"/>
            <a:ext cx="2211884" cy="677615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2570513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37100825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649111"/>
            <a:ext cx="1478756" cy="1033215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649111"/>
            <a:ext cx="4350544" cy="1033215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41D5141-573D-7F4B-A753-13E094770F8C}" type="datetimeFigureOut">
              <a:rPr kumimoji="1" lang="ja-JP" altLang="en-US" smtClean="0"/>
              <a:t>2025/6/18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21432932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649114"/>
            <a:ext cx="5915025" cy="235655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3245556"/>
            <a:ext cx="5915025" cy="7735712"/>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11300181"/>
            <a:ext cx="1543050" cy="649111"/>
          </a:xfrm>
          <a:prstGeom prst="rect">
            <a:avLst/>
          </a:prstGeom>
        </p:spPr>
        <p:txBody>
          <a:bodyPr vert="horz" lIns="91440" tIns="45720" rIns="91440" bIns="45720" rtlCol="0" anchor="ctr"/>
          <a:lstStyle>
            <a:lvl1pPr algn="l">
              <a:defRPr sz="900">
                <a:solidFill>
                  <a:schemeClr val="tx1">
                    <a:tint val="82000"/>
                  </a:schemeClr>
                </a:solidFill>
              </a:defRPr>
            </a:lvl1pPr>
          </a:lstStyle>
          <a:p>
            <a:fld id="{741D5141-573D-7F4B-A753-13E094770F8C}" type="datetimeFigureOut">
              <a:rPr kumimoji="1" lang="ja-JP" altLang="en-US" smtClean="0"/>
              <a:t>2025/6/18</a:t>
            </a:fld>
            <a:endParaRPr kumimoji="1" lang="ja-JP" altLang="en-US"/>
          </a:p>
        </p:txBody>
      </p:sp>
      <p:sp>
        <p:nvSpPr>
          <p:cNvPr id="5" name="Footer Placeholder 4"/>
          <p:cNvSpPr>
            <a:spLocks noGrp="1"/>
          </p:cNvSpPr>
          <p:nvPr>
            <p:ph type="ftr" sz="quarter" idx="3"/>
          </p:nvPr>
        </p:nvSpPr>
        <p:spPr>
          <a:xfrm>
            <a:off x="2271713" y="11300181"/>
            <a:ext cx="2314575" cy="649111"/>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11300181"/>
            <a:ext cx="1543050" cy="649111"/>
          </a:xfrm>
          <a:prstGeom prst="rect">
            <a:avLst/>
          </a:prstGeom>
        </p:spPr>
        <p:txBody>
          <a:bodyPr vert="horz" lIns="91440" tIns="45720" rIns="91440" bIns="45720" rtlCol="0" anchor="ctr"/>
          <a:lstStyle>
            <a:lvl1pPr algn="r">
              <a:defRPr sz="900">
                <a:solidFill>
                  <a:schemeClr val="tx1">
                    <a:tint val="82000"/>
                  </a:schemeClr>
                </a:solidFill>
              </a:defRPr>
            </a:lvl1pPr>
          </a:lstStyle>
          <a:p>
            <a:fld id="{E73A6591-070D-BA48-A22D-4F293AB14955}" type="slidenum">
              <a:rPr kumimoji="1" lang="ja-JP" altLang="en-US" smtClean="0"/>
              <a:t>‹#›</a:t>
            </a:fld>
            <a:endParaRPr kumimoji="1" lang="ja-JP" altLang="en-US"/>
          </a:p>
        </p:txBody>
      </p:sp>
    </p:spTree>
    <p:extLst>
      <p:ext uri="{BB962C8B-B14F-4D97-AF65-F5344CB8AC3E}">
        <p14:creationId xmlns:p14="http://schemas.microsoft.com/office/powerpoint/2010/main" val="362180031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A0CD8FD-B23B-9DE3-6FEA-1C04F36AE85B}"/>
              </a:ext>
            </a:extLst>
          </p:cNvPr>
          <p:cNvSpPr txBox="1"/>
          <p:nvPr/>
        </p:nvSpPr>
        <p:spPr>
          <a:xfrm>
            <a:off x="2051090" y="128419"/>
            <a:ext cx="2755819" cy="369332"/>
          </a:xfrm>
          <a:prstGeom prst="rect">
            <a:avLst/>
          </a:prstGeom>
          <a:noFill/>
        </p:spPr>
        <p:txBody>
          <a:bodyPr wrap="none" rtlCol="0">
            <a:spAutoFit/>
          </a:bodyPr>
          <a:lstStyle/>
          <a:p>
            <a:r>
              <a:rPr kumimoji="1" lang="en-US" altLang="ja-JP" dirty="0">
                <a:latin typeface="Meiryo" panose="020B0604030504040204" pitchFamily="34" charset="-128"/>
                <a:ea typeface="Meiryo" panose="020B0604030504040204" pitchFamily="34" charset="-128"/>
              </a:rPr>
              <a:t>KPI-Navigator </a:t>
            </a:r>
            <a:r>
              <a:rPr kumimoji="1" lang="ja-JP" altLang="en-US">
                <a:latin typeface="Meiryo" panose="020B0604030504040204" pitchFamily="34" charset="-128"/>
                <a:ea typeface="Meiryo" panose="020B0604030504040204" pitchFamily="34" charset="-128"/>
              </a:rPr>
              <a:t>初期設定</a:t>
            </a:r>
          </a:p>
        </p:txBody>
      </p:sp>
      <p:sp>
        <p:nvSpPr>
          <p:cNvPr id="5" name="テキスト ボックス 4">
            <a:extLst>
              <a:ext uri="{FF2B5EF4-FFF2-40B4-BE49-F238E27FC236}">
                <a16:creationId xmlns:a16="http://schemas.microsoft.com/office/drawing/2014/main" id="{16682CF4-30EB-1F4A-FA22-DD8797376A9A}"/>
              </a:ext>
            </a:extLst>
          </p:cNvPr>
          <p:cNvSpPr txBox="1"/>
          <p:nvPr/>
        </p:nvSpPr>
        <p:spPr>
          <a:xfrm>
            <a:off x="583198" y="834644"/>
            <a:ext cx="5709185" cy="2554545"/>
          </a:xfrm>
          <a:prstGeom prst="rect">
            <a:avLst/>
          </a:prstGeom>
          <a:noFill/>
        </p:spPr>
        <p:txBody>
          <a:bodyPr wrap="square" rtlCol="0">
            <a:spAutoFit/>
          </a:bodyPr>
          <a:lstStyle/>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ユーザー</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ja-JP" altLang="en-US" sz="1000">
                <a:latin typeface="Meiryo" panose="020B0604030504040204" pitchFamily="34" charset="-128"/>
                <a:ea typeface="Meiryo" panose="020B0604030504040204" pitchFamily="34" charset="-128"/>
              </a:rPr>
              <a:t>前年もしくはそれ以前の年の総営業日の設定</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後でいつでも変更可能＊誤入力修正など</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＊複数年入力可能→精度が上がる</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コロナ禍でなければ</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ja-JP" altLang="en-US" sz="1000">
                <a:latin typeface="Meiryo" panose="020B0604030504040204" pitchFamily="34" charset="-128"/>
                <a:ea typeface="Meiryo" panose="020B0604030504040204" pitchFamily="34" charset="-128"/>
              </a:rPr>
              <a:t>前年もしくはそれ以前の年の日次売上額</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後でいつでも変更可能＊誤入力修正など</a:t>
            </a:r>
            <a:r>
              <a:rPr lang="en-US" altLang="ja-JP" sz="1000" dirty="0">
                <a:latin typeface="Meiryo" panose="020B0604030504040204" pitchFamily="34" charset="-128"/>
                <a:ea typeface="Meiryo" panose="020B0604030504040204" pitchFamily="34" charset="-128"/>
              </a:rPr>
              <a:t>)</a:t>
            </a:r>
          </a:p>
          <a:p>
            <a:r>
              <a:rPr lang="ja-JP" altLang="en-US" sz="1000">
                <a:latin typeface="Meiryo" panose="020B0604030504040204" pitchFamily="34" charset="-128"/>
                <a:ea typeface="Meiryo" panose="020B0604030504040204" pitchFamily="34" charset="-128"/>
              </a:rPr>
              <a:t>＊</a:t>
            </a:r>
            <a:r>
              <a:rPr lang="en-US" altLang="ja-JP" sz="1000" dirty="0">
                <a:latin typeface="Meiryo" panose="020B0604030504040204" pitchFamily="34" charset="-128"/>
                <a:ea typeface="Meiryo" panose="020B0604030504040204" pitchFamily="34" charset="-128"/>
              </a:rPr>
              <a:t>CSV</a:t>
            </a:r>
            <a:r>
              <a:rPr lang="ja-JP" altLang="en-US" sz="1000">
                <a:latin typeface="Meiryo" panose="020B0604030504040204" pitchFamily="34" charset="-128"/>
                <a:ea typeface="Meiryo" panose="020B0604030504040204" pitchFamily="34" charset="-128"/>
              </a:rPr>
              <a:t>をアップロードして自動で反映もしたい。その場合の</a:t>
            </a:r>
            <a:r>
              <a:rPr lang="en-US" altLang="ja-JP" sz="1000" dirty="0">
                <a:latin typeface="Meiryo" panose="020B0604030504040204" pitchFamily="34" charset="-128"/>
                <a:ea typeface="Meiryo" panose="020B0604030504040204" pitchFamily="34" charset="-128"/>
              </a:rPr>
              <a:t>CSV</a:t>
            </a:r>
            <a:r>
              <a:rPr lang="ja-JP" altLang="en-US" sz="1000">
                <a:latin typeface="Meiryo" panose="020B0604030504040204" pitchFamily="34" charset="-128"/>
                <a:ea typeface="Meiryo" panose="020B0604030504040204" pitchFamily="34" charset="-128"/>
              </a:rPr>
              <a:t>のタイトルなどはユーザーにより差異があるのでそのパターンを見極められるロジックが欲しい。</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3.</a:t>
            </a:r>
            <a:r>
              <a:rPr lang="ja-JP" altLang="en-US" sz="1000">
                <a:latin typeface="Meiryo" panose="020B0604030504040204" pitchFamily="34" charset="-128"/>
                <a:ea typeface="Meiryo" panose="020B0604030504040204" pitchFamily="34" charset="-128"/>
              </a:rPr>
              <a:t>　入力希望があれば、その年の収支</a:t>
            </a:r>
            <a:r>
              <a:rPr lang="en-US" altLang="ja-JP" sz="1000" dirty="0">
                <a:latin typeface="Meiryo" panose="020B0604030504040204" pitchFamily="34" charset="-128"/>
                <a:ea typeface="Meiryo" panose="020B0604030504040204" pitchFamily="34" charset="-128"/>
              </a:rPr>
              <a:t>(PL)</a:t>
            </a:r>
            <a:r>
              <a:rPr lang="ja-JP" altLang="en-US" sz="1000">
                <a:latin typeface="Meiryo" panose="020B0604030504040204" pitchFamily="34" charset="-128"/>
                <a:ea typeface="Meiryo" panose="020B0604030504040204" pitchFamily="34" charset="-128"/>
              </a:rPr>
              <a:t>の入力も可能→経営健康指数の表記</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グラフ化など</a:t>
            </a:r>
            <a:r>
              <a:rPr lang="en-US" altLang="ja-JP" sz="1000" dirty="0">
                <a:latin typeface="Meiryo" panose="020B0604030504040204" pitchFamily="34" charset="-128"/>
                <a:ea typeface="Meiryo" panose="020B0604030504040204" pitchFamily="34" charset="-128"/>
              </a:rPr>
              <a:t>)</a:t>
            </a:r>
          </a:p>
          <a:p>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ユーザー入力後に</a:t>
            </a:r>
            <a:r>
              <a:rPr lang="en-US" altLang="ja-JP" sz="1000" dirty="0">
                <a:latin typeface="Meiryo" panose="020B0604030504040204" pitchFamily="34" charset="-128"/>
                <a:ea typeface="Meiryo" panose="020B0604030504040204" pitchFamily="34" charset="-128"/>
              </a:rPr>
              <a:t>Web</a:t>
            </a:r>
            <a:r>
              <a:rPr lang="ja-JP" altLang="en-US" sz="1000">
                <a:latin typeface="Meiryo" panose="020B0604030504040204" pitchFamily="34" charset="-128"/>
                <a:ea typeface="Meiryo" panose="020B0604030504040204" pitchFamily="34" charset="-128"/>
              </a:rPr>
              <a:t>アプリがすること</a:t>
            </a:r>
            <a:r>
              <a:rPr lang="en-US" altLang="ja-JP" sz="1000" dirty="0">
                <a:latin typeface="Meiryo" panose="020B0604030504040204" pitchFamily="34" charset="-128"/>
                <a:ea typeface="Meiryo" panose="020B0604030504040204" pitchFamily="34" charset="-128"/>
              </a:rPr>
              <a:t>】</a:t>
            </a:r>
          </a:p>
          <a:p>
            <a:r>
              <a:rPr lang="en-US" altLang="ja-JP" sz="1000" dirty="0">
                <a:latin typeface="Meiryo" panose="020B0604030504040204" pitchFamily="34" charset="-128"/>
                <a:ea typeface="Meiryo" panose="020B0604030504040204" pitchFamily="34" charset="-128"/>
              </a:rPr>
              <a:t>	1. </a:t>
            </a:r>
            <a:r>
              <a:rPr lang="ja-JP" altLang="en-US" sz="1000">
                <a:latin typeface="Meiryo" panose="020B0604030504040204" pitchFamily="34" charset="-128"/>
                <a:ea typeface="Meiryo" panose="020B0604030504040204" pitchFamily="34" charset="-128"/>
              </a:rPr>
              <a:t>年間総売上額を年間総営業日で割る</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	2. </a:t>
            </a:r>
            <a:r>
              <a:rPr lang="ja-JP" altLang="en-US" sz="1000">
                <a:latin typeface="Meiryo" panose="020B0604030504040204" pitchFamily="34" charset="-128"/>
                <a:ea typeface="Meiryo" panose="020B0604030504040204" pitchFamily="34" charset="-128"/>
              </a:rPr>
              <a:t>日次の平均売上額を算出</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繁閑期を割り出すための基軸となる数値</a:t>
            </a:r>
            <a:r>
              <a:rPr lang="en-US" altLang="ja-JP" sz="1000" dirty="0">
                <a:latin typeface="Meiryo" panose="020B0604030504040204" pitchFamily="34" charset="-128"/>
                <a:ea typeface="Meiryo" panose="020B0604030504040204" pitchFamily="34" charset="-128"/>
              </a:rPr>
              <a:t>)</a:t>
            </a:r>
          </a:p>
          <a:p>
            <a:r>
              <a:rPr lang="en-US" altLang="ja-JP" sz="1000" dirty="0">
                <a:latin typeface="Meiryo" panose="020B0604030504040204" pitchFamily="34" charset="-128"/>
                <a:ea typeface="Meiryo" panose="020B0604030504040204" pitchFamily="34" charset="-128"/>
              </a:rPr>
              <a:t>	3. </a:t>
            </a:r>
            <a:r>
              <a:rPr lang="ja-JP" altLang="en-US" sz="1000">
                <a:latin typeface="Meiryo" panose="020B0604030504040204" pitchFamily="34" charset="-128"/>
                <a:ea typeface="Meiryo" panose="020B0604030504040204" pitchFamily="34" charset="-128"/>
              </a:rPr>
              <a:t>日次売上</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月次営業日</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平均月次売上額算出</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	4. </a:t>
            </a:r>
            <a:r>
              <a:rPr lang="ja-JP" altLang="en-US" sz="1000">
                <a:latin typeface="Meiryo" panose="020B0604030504040204" pitchFamily="34" charset="-128"/>
                <a:ea typeface="Meiryo" panose="020B0604030504040204" pitchFamily="34" charset="-128"/>
              </a:rPr>
              <a:t>実際の月次の売上との差額からそのお店の繁閑期パーセンテージ算出</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	5. </a:t>
            </a:r>
            <a:r>
              <a:rPr lang="ja-JP" altLang="en-US" sz="1000">
                <a:latin typeface="Meiryo" panose="020B0604030504040204" pitchFamily="34" charset="-128"/>
                <a:ea typeface="Meiryo" panose="020B0604030504040204" pitchFamily="34" charset="-128"/>
              </a:rPr>
              <a:t>各月の各曜日の繁閑パーセンテージ算出</a:t>
            </a:r>
            <a:r>
              <a:rPr lang="en-US" altLang="ja-JP" sz="1000" dirty="0">
                <a:latin typeface="Meiryo" panose="020B0604030504040204" pitchFamily="34" charset="-128"/>
                <a:ea typeface="Meiryo" panose="020B0604030504040204" pitchFamily="34" charset="-128"/>
              </a:rPr>
              <a:t> </a:t>
            </a:r>
            <a:r>
              <a:rPr lang="ja-JP" altLang="en-US" sz="1000">
                <a:latin typeface="Meiryo" panose="020B0604030504040204" pitchFamily="34" charset="-128"/>
                <a:ea typeface="Meiryo" panose="020B0604030504040204" pitchFamily="34" charset="-128"/>
              </a:rPr>
              <a:t>→</a:t>
            </a:r>
            <a:r>
              <a:rPr lang="en-US" altLang="ja-JP" sz="1000" dirty="0">
                <a:latin typeface="Meiryo" panose="020B0604030504040204" pitchFamily="34" charset="-128"/>
                <a:ea typeface="Meiryo" panose="020B0604030504040204" pitchFamily="34" charset="-128"/>
              </a:rPr>
              <a:t> </a:t>
            </a:r>
            <a:r>
              <a:rPr lang="ja-JP" altLang="en-US" sz="1000">
                <a:latin typeface="Meiryo" panose="020B0604030504040204" pitchFamily="34" charset="-128"/>
                <a:ea typeface="Meiryo" panose="020B0604030504040204" pitchFamily="34" charset="-128"/>
              </a:rPr>
              <a:t>月次の総売上を超えない額に自動調整</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	</a:t>
            </a:r>
            <a:r>
              <a:rPr lang="ja-JP" altLang="en-US" sz="1000">
                <a:latin typeface="Meiryo" panose="020B0604030504040204" pitchFamily="34" charset="-128"/>
                <a:ea typeface="Meiryo" panose="020B0604030504040204" pitchFamily="34" charset="-128"/>
              </a:rPr>
              <a:t>→今年の</a:t>
            </a:r>
            <a:r>
              <a:rPr lang="en-US" altLang="ja-JP" sz="1000" dirty="0">
                <a:latin typeface="Meiryo" panose="020B0604030504040204" pitchFamily="34" charset="-128"/>
                <a:ea typeface="Meiryo" panose="020B0604030504040204" pitchFamily="34" charset="-128"/>
              </a:rPr>
              <a:t>KPI</a:t>
            </a:r>
            <a:r>
              <a:rPr lang="ja-JP" altLang="en-US" sz="1000">
                <a:latin typeface="Meiryo" panose="020B0604030504040204" pitchFamily="34" charset="-128"/>
                <a:ea typeface="Meiryo" panose="020B0604030504040204" pitchFamily="34" charset="-128"/>
              </a:rPr>
              <a:t>算出に仕様</a:t>
            </a:r>
            <a:endParaRPr lang="en-US" altLang="ja-JP" sz="1000" dirty="0">
              <a:latin typeface="Meiryo" panose="020B0604030504040204" pitchFamily="34" charset="-128"/>
              <a:ea typeface="Meiryo" panose="020B0604030504040204" pitchFamily="34" charset="-128"/>
            </a:endParaRPr>
          </a:p>
          <a:p>
            <a:r>
              <a:rPr lang="ja-JP" altLang="en-US" sz="1000" b="1">
                <a:latin typeface="Meiryo" panose="020B0604030504040204" pitchFamily="34" charset="-128"/>
                <a:ea typeface="Meiryo" panose="020B0604030504040204" pitchFamily="34" charset="-128"/>
              </a:rPr>
              <a:t>＊ユーザーが初期設定時に入力した、</a:t>
            </a:r>
            <a:r>
              <a:rPr lang="en-US" altLang="ja-JP" sz="1000" b="1" dirty="0">
                <a:latin typeface="Meiryo" panose="020B0604030504040204" pitchFamily="34" charset="-128"/>
                <a:ea typeface="Meiryo" panose="020B0604030504040204" pitchFamily="34" charset="-128"/>
              </a:rPr>
              <a:t>1</a:t>
            </a:r>
            <a:r>
              <a:rPr lang="ja-JP" altLang="en-US" sz="1000" b="1">
                <a:latin typeface="Meiryo" panose="020B0604030504040204" pitchFamily="34" charset="-128"/>
                <a:ea typeface="Meiryo" panose="020B0604030504040204" pitchFamily="34" charset="-128"/>
              </a:rPr>
              <a:t>と</a:t>
            </a:r>
            <a:r>
              <a:rPr lang="en-US" altLang="ja-JP" sz="1000" b="1" dirty="0">
                <a:latin typeface="Meiryo" panose="020B0604030504040204" pitchFamily="34" charset="-128"/>
                <a:ea typeface="Meiryo" panose="020B0604030504040204" pitchFamily="34" charset="-128"/>
              </a:rPr>
              <a:t>2</a:t>
            </a:r>
            <a:r>
              <a:rPr lang="ja-JP" altLang="en-US" sz="1000" b="1">
                <a:latin typeface="Meiryo" panose="020B0604030504040204" pitchFamily="34" charset="-128"/>
                <a:ea typeface="Meiryo" panose="020B0604030504040204" pitchFamily="34" charset="-128"/>
              </a:rPr>
              <a:t>のデータからここまでを自動計算し可視化たい。</a:t>
            </a:r>
            <a:endParaRPr lang="en-US" altLang="ja-JP" sz="1000" b="1" dirty="0">
              <a:latin typeface="Meiryo" panose="020B0604030504040204" pitchFamily="34" charset="-128"/>
              <a:ea typeface="Meiryo" panose="020B0604030504040204" pitchFamily="34" charset="-128"/>
            </a:endParaRPr>
          </a:p>
        </p:txBody>
      </p:sp>
      <p:sp>
        <p:nvSpPr>
          <p:cNvPr id="6" name="テキスト ボックス 5">
            <a:extLst>
              <a:ext uri="{FF2B5EF4-FFF2-40B4-BE49-F238E27FC236}">
                <a16:creationId xmlns:a16="http://schemas.microsoft.com/office/drawing/2014/main" id="{BF1B7448-07C0-CB0F-F5DB-BFB2A921EFCB}"/>
              </a:ext>
            </a:extLst>
          </p:cNvPr>
          <p:cNvSpPr txBox="1"/>
          <p:nvPr/>
        </p:nvSpPr>
        <p:spPr>
          <a:xfrm>
            <a:off x="239615" y="548853"/>
            <a:ext cx="1003801" cy="276999"/>
          </a:xfrm>
          <a:prstGeom prst="rect">
            <a:avLst/>
          </a:prstGeom>
          <a:noFill/>
        </p:spPr>
        <p:txBody>
          <a:bodyPr wrap="none" rtlCol="0">
            <a:spAutoFit/>
          </a:bodyPr>
          <a:lstStyle/>
          <a:p>
            <a:r>
              <a:rPr lang="en" altLang="ja-JP" sz="1200" dirty="0">
                <a:latin typeface="Meiryo" panose="020B0604030504040204" pitchFamily="34" charset="-128"/>
                <a:ea typeface="Meiryo" panose="020B0604030504040204" pitchFamily="34" charset="-128"/>
              </a:rPr>
              <a:t>1. </a:t>
            </a:r>
            <a:r>
              <a:rPr lang="ja-JP" altLang="en-US" sz="1200">
                <a:latin typeface="Meiryo" panose="020B0604030504040204" pitchFamily="34" charset="-128"/>
                <a:ea typeface="Meiryo" panose="020B0604030504040204" pitchFamily="34" charset="-128"/>
              </a:rPr>
              <a:t>初期設定</a:t>
            </a:r>
            <a:endParaRPr lang="en-US" altLang="ja-JP" sz="1200" dirty="0">
              <a:latin typeface="Meiryo" panose="020B0604030504040204" pitchFamily="34" charset="-128"/>
              <a:ea typeface="Meiryo" panose="020B0604030504040204" pitchFamily="34" charset="-128"/>
            </a:endParaRPr>
          </a:p>
        </p:txBody>
      </p:sp>
      <p:sp>
        <p:nvSpPr>
          <p:cNvPr id="7" name="テキスト ボックス 6">
            <a:extLst>
              <a:ext uri="{FF2B5EF4-FFF2-40B4-BE49-F238E27FC236}">
                <a16:creationId xmlns:a16="http://schemas.microsoft.com/office/drawing/2014/main" id="{AB209CDB-AF4F-3733-5876-8B8231C1F2B3}"/>
              </a:ext>
            </a:extLst>
          </p:cNvPr>
          <p:cNvSpPr txBox="1"/>
          <p:nvPr/>
        </p:nvSpPr>
        <p:spPr>
          <a:xfrm>
            <a:off x="285410" y="3606295"/>
            <a:ext cx="1157689" cy="276999"/>
          </a:xfrm>
          <a:prstGeom prst="rect">
            <a:avLst/>
          </a:prstGeom>
          <a:noFill/>
        </p:spPr>
        <p:txBody>
          <a:bodyPr wrap="none" rtlCol="0">
            <a:spAutoFit/>
          </a:bodyPr>
          <a:lstStyle/>
          <a:p>
            <a:r>
              <a:rPr lang="en" altLang="ja-JP" sz="1200" dirty="0">
                <a:latin typeface="Meiryo" panose="020B0604030504040204" pitchFamily="34" charset="-128"/>
                <a:ea typeface="Meiryo" panose="020B0604030504040204" pitchFamily="34" charset="-128"/>
              </a:rPr>
              <a:t>2. </a:t>
            </a:r>
            <a:r>
              <a:rPr lang="ja-JP" altLang="en-US" sz="1200">
                <a:latin typeface="Meiryo" panose="020B0604030504040204" pitchFamily="34" charset="-128"/>
                <a:ea typeface="Meiryo" panose="020B0604030504040204" pitchFamily="34" charset="-128"/>
              </a:rPr>
              <a:t>今年の設定</a:t>
            </a:r>
            <a:endParaRPr lang="en-US" altLang="ja-JP" sz="1200" dirty="0">
              <a:latin typeface="Meiryo" panose="020B0604030504040204" pitchFamily="34" charset="-128"/>
              <a:ea typeface="Meiryo" panose="020B0604030504040204" pitchFamily="34" charset="-128"/>
            </a:endParaRPr>
          </a:p>
        </p:txBody>
      </p:sp>
      <p:sp>
        <p:nvSpPr>
          <p:cNvPr id="8" name="テキスト ボックス 7">
            <a:extLst>
              <a:ext uri="{FF2B5EF4-FFF2-40B4-BE49-F238E27FC236}">
                <a16:creationId xmlns:a16="http://schemas.microsoft.com/office/drawing/2014/main" id="{B99E78B5-F164-2379-8BB2-DEEDDFDA6B5B}"/>
              </a:ext>
            </a:extLst>
          </p:cNvPr>
          <p:cNvSpPr txBox="1"/>
          <p:nvPr/>
        </p:nvSpPr>
        <p:spPr>
          <a:xfrm>
            <a:off x="396381" y="3932547"/>
            <a:ext cx="6085339" cy="2554545"/>
          </a:xfrm>
          <a:prstGeom prst="rect">
            <a:avLst/>
          </a:prstGeom>
          <a:noFill/>
        </p:spPr>
        <p:txBody>
          <a:bodyPr wrap="square" rtlCol="0">
            <a:spAutoFit/>
          </a:bodyPr>
          <a:lstStyle/>
          <a:p>
            <a:r>
              <a:rPr lang="ja-JP" altLang="en-US" sz="1000">
                <a:latin typeface="Meiryo" panose="020B0604030504040204" pitchFamily="34" charset="-128"/>
                <a:ea typeface="Meiryo" panose="020B0604030504040204" pitchFamily="34" charset="-128"/>
              </a:rPr>
              <a:t>ユーザー</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今年の総営業日の設定</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後でいつでも変更可能＊誤入力修正など</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ja-JP" altLang="en-US" sz="1000">
                <a:latin typeface="Meiryo" panose="020B0604030504040204" pitchFamily="34" charset="-128"/>
                <a:ea typeface="Meiryo" panose="020B0604030504040204" pitchFamily="34" charset="-128"/>
              </a:rPr>
              <a:t>今年の日次売上額</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後でいつでも変更可能＊誤入力修正など</a:t>
            </a:r>
            <a:r>
              <a:rPr lang="en-US" altLang="ja-JP" sz="1000" dirty="0">
                <a:latin typeface="Meiryo" panose="020B0604030504040204" pitchFamily="34" charset="-128"/>
                <a:ea typeface="Meiryo" panose="020B0604030504040204" pitchFamily="34" charset="-128"/>
              </a:rPr>
              <a:t>)</a:t>
            </a:r>
          </a:p>
          <a:p>
            <a:r>
              <a:rPr lang="ja-JP" altLang="en-US" sz="1000">
                <a:latin typeface="Meiryo" panose="020B0604030504040204" pitchFamily="34" charset="-128"/>
                <a:ea typeface="Meiryo" panose="020B0604030504040204" pitchFamily="34" charset="-128"/>
              </a:rPr>
              <a:t>＊</a:t>
            </a:r>
            <a:r>
              <a:rPr lang="en-US" altLang="ja-JP" sz="1000" dirty="0">
                <a:latin typeface="Meiryo" panose="020B0604030504040204" pitchFamily="34" charset="-128"/>
                <a:ea typeface="Meiryo" panose="020B0604030504040204" pitchFamily="34" charset="-128"/>
              </a:rPr>
              <a:t>CSV</a:t>
            </a:r>
            <a:r>
              <a:rPr lang="ja-JP" altLang="en-US" sz="1000">
                <a:latin typeface="Meiryo" panose="020B0604030504040204" pitchFamily="34" charset="-128"/>
                <a:ea typeface="Meiryo" panose="020B0604030504040204" pitchFamily="34" charset="-128"/>
              </a:rPr>
              <a:t>をアップロードして自動で反映もしたい。その場合の</a:t>
            </a:r>
            <a:r>
              <a:rPr lang="en-US" altLang="ja-JP" sz="1000" dirty="0">
                <a:latin typeface="Meiryo" panose="020B0604030504040204" pitchFamily="34" charset="-128"/>
                <a:ea typeface="Meiryo" panose="020B0604030504040204" pitchFamily="34" charset="-128"/>
              </a:rPr>
              <a:t>CSV</a:t>
            </a:r>
            <a:r>
              <a:rPr lang="ja-JP" altLang="en-US" sz="1000">
                <a:latin typeface="Meiryo" panose="020B0604030504040204" pitchFamily="34" charset="-128"/>
                <a:ea typeface="Meiryo" panose="020B0604030504040204" pitchFamily="34" charset="-128"/>
              </a:rPr>
              <a:t>のタイトルなどはユーザーにより差異があるのでそのパターンを見極められるロジックが欲しい。</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3.</a:t>
            </a:r>
            <a:r>
              <a:rPr lang="ja-JP" altLang="en-US" sz="1000">
                <a:latin typeface="Meiryo" panose="020B0604030504040204" pitchFamily="34" charset="-128"/>
                <a:ea typeface="Meiryo" panose="020B0604030504040204" pitchFamily="34" charset="-128"/>
              </a:rPr>
              <a:t>　年次目標売上額を確定</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4.</a:t>
            </a:r>
            <a:r>
              <a:rPr lang="ja-JP" altLang="en-US" sz="1000">
                <a:latin typeface="Meiryo" panose="020B0604030504040204" pitchFamily="34" charset="-128"/>
                <a:ea typeface="Meiryo" panose="020B0604030504040204" pitchFamily="34" charset="-128"/>
              </a:rPr>
              <a:t>　月次繁閑期パーセンテージ調整</a:t>
            </a:r>
            <a:endParaRPr lang="en-US" altLang="ja-JP" sz="1000" dirty="0">
              <a:latin typeface="Meiryo" panose="020B0604030504040204" pitchFamily="34" charset="-128"/>
              <a:ea typeface="Meiryo" panose="020B0604030504040204" pitchFamily="34" charset="-128"/>
            </a:endParaRPr>
          </a:p>
          <a:p>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ユーザー入力後に</a:t>
            </a:r>
            <a:r>
              <a:rPr lang="en-US" altLang="ja-JP" sz="1000" dirty="0">
                <a:latin typeface="Meiryo" panose="020B0604030504040204" pitchFamily="34" charset="-128"/>
                <a:ea typeface="Meiryo" panose="020B0604030504040204" pitchFamily="34" charset="-128"/>
              </a:rPr>
              <a:t>Web</a:t>
            </a:r>
            <a:r>
              <a:rPr lang="ja-JP" altLang="en-US" sz="1000">
                <a:latin typeface="Meiryo" panose="020B0604030504040204" pitchFamily="34" charset="-128"/>
                <a:ea typeface="Meiryo" panose="020B0604030504040204" pitchFamily="34" charset="-128"/>
              </a:rPr>
              <a:t>アプリがすること</a:t>
            </a:r>
            <a:r>
              <a:rPr lang="en-US" altLang="ja-JP" sz="1000" dirty="0">
                <a:latin typeface="Meiryo" panose="020B0604030504040204" pitchFamily="34" charset="-128"/>
                <a:ea typeface="Meiryo" panose="020B0604030504040204" pitchFamily="34" charset="-128"/>
              </a:rPr>
              <a:t>】</a:t>
            </a:r>
          </a:p>
          <a:p>
            <a:r>
              <a:rPr lang="en-US" altLang="ja-JP" sz="1000" dirty="0">
                <a:latin typeface="Meiryo" panose="020B0604030504040204" pitchFamily="34" charset="-128"/>
                <a:ea typeface="Meiryo" panose="020B0604030504040204" pitchFamily="34" charset="-128"/>
              </a:rPr>
              <a:t>	1. </a:t>
            </a:r>
            <a:r>
              <a:rPr lang="ja-JP" altLang="en-US" sz="1000">
                <a:latin typeface="Meiryo" panose="020B0604030504040204" pitchFamily="34" charset="-128"/>
                <a:ea typeface="Meiryo" panose="020B0604030504040204" pitchFamily="34" charset="-128"/>
              </a:rPr>
              <a:t>年間目標売上額を年間総営業日で割る</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	2. </a:t>
            </a:r>
            <a:r>
              <a:rPr lang="ja-JP" altLang="en-US" sz="1000">
                <a:latin typeface="Meiryo" panose="020B0604030504040204" pitchFamily="34" charset="-128"/>
                <a:ea typeface="Meiryo" panose="020B0604030504040204" pitchFamily="34" charset="-128"/>
              </a:rPr>
              <a:t>日次の平均目標売上額を算出</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繁閑期を割り出すための基軸となる数値</a:t>
            </a:r>
            <a:r>
              <a:rPr lang="en-US" altLang="ja-JP" sz="1000" dirty="0">
                <a:latin typeface="Meiryo" panose="020B0604030504040204" pitchFamily="34" charset="-128"/>
                <a:ea typeface="Meiryo" panose="020B0604030504040204" pitchFamily="34" charset="-128"/>
              </a:rPr>
              <a:t>)</a:t>
            </a:r>
          </a:p>
          <a:p>
            <a:r>
              <a:rPr lang="en-US" altLang="ja-JP" sz="1000" dirty="0">
                <a:latin typeface="Meiryo" panose="020B0604030504040204" pitchFamily="34" charset="-128"/>
                <a:ea typeface="Meiryo" panose="020B0604030504040204" pitchFamily="34" charset="-128"/>
              </a:rPr>
              <a:t>	3. </a:t>
            </a:r>
            <a:r>
              <a:rPr lang="ja-JP" altLang="en-US" sz="1000">
                <a:latin typeface="Meiryo" panose="020B0604030504040204" pitchFamily="34" charset="-128"/>
                <a:ea typeface="Meiryo" panose="020B0604030504040204" pitchFamily="34" charset="-128"/>
              </a:rPr>
              <a:t>日次目標売上</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月次営業日</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目標平均月次売上額算出</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	4. </a:t>
            </a:r>
            <a:r>
              <a:rPr lang="ja-JP" altLang="en-US" sz="1000">
                <a:latin typeface="Meiryo" panose="020B0604030504040204" pitchFamily="34" charset="-128"/>
                <a:ea typeface="Meiryo" panose="020B0604030504040204" pitchFamily="34" charset="-128"/>
              </a:rPr>
              <a:t>前年の繁閑期パーセンテージと目標平均月次売上額を掛け、根拠のある目標月次売上額算出</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	5. </a:t>
            </a:r>
            <a:r>
              <a:rPr lang="ja-JP" altLang="en-US" sz="1000">
                <a:latin typeface="Meiryo" panose="020B0604030504040204" pitchFamily="34" charset="-128"/>
                <a:ea typeface="Meiryo" panose="020B0604030504040204" pitchFamily="34" charset="-128"/>
              </a:rPr>
              <a:t>各月の各曜日の繁閑パーセンテージ算出</a:t>
            </a:r>
            <a:r>
              <a:rPr lang="en-US" altLang="ja-JP" sz="1000" dirty="0">
                <a:latin typeface="Meiryo" panose="020B0604030504040204" pitchFamily="34" charset="-128"/>
                <a:ea typeface="Meiryo" panose="020B0604030504040204" pitchFamily="34" charset="-128"/>
              </a:rPr>
              <a:t> </a:t>
            </a:r>
            <a:r>
              <a:rPr lang="ja-JP" altLang="en-US" sz="1000">
                <a:latin typeface="Meiryo" panose="020B0604030504040204" pitchFamily="34" charset="-128"/>
                <a:ea typeface="Meiryo" panose="020B0604030504040204" pitchFamily="34" charset="-128"/>
              </a:rPr>
              <a:t>→</a:t>
            </a:r>
            <a:r>
              <a:rPr lang="en-US" altLang="ja-JP" sz="1000" dirty="0">
                <a:latin typeface="Meiryo" panose="020B0604030504040204" pitchFamily="34" charset="-128"/>
                <a:ea typeface="Meiryo" panose="020B0604030504040204" pitchFamily="34" charset="-128"/>
              </a:rPr>
              <a:t> </a:t>
            </a:r>
            <a:r>
              <a:rPr lang="ja-JP" altLang="en-US" sz="1000">
                <a:latin typeface="Meiryo" panose="020B0604030504040204" pitchFamily="34" charset="-128"/>
                <a:ea typeface="Meiryo" panose="020B0604030504040204" pitchFamily="34" charset="-128"/>
              </a:rPr>
              <a:t>月次の総売上を超えない額に自動調整</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	</a:t>
            </a:r>
            <a:r>
              <a:rPr lang="ja-JP" altLang="en-US" sz="1000">
                <a:latin typeface="Meiryo" panose="020B0604030504040204" pitchFamily="34" charset="-128"/>
                <a:ea typeface="Meiryo" panose="020B0604030504040204" pitchFamily="34" charset="-128"/>
              </a:rPr>
              <a:t>→今年の</a:t>
            </a:r>
            <a:r>
              <a:rPr lang="en-US" altLang="ja-JP" sz="1000" dirty="0">
                <a:latin typeface="Meiryo" panose="020B0604030504040204" pitchFamily="34" charset="-128"/>
                <a:ea typeface="Meiryo" panose="020B0604030504040204" pitchFamily="34" charset="-128"/>
              </a:rPr>
              <a:t>KPI</a:t>
            </a:r>
            <a:r>
              <a:rPr lang="ja-JP" altLang="en-US" sz="1000">
                <a:latin typeface="Meiryo" panose="020B0604030504040204" pitchFamily="34" charset="-128"/>
                <a:ea typeface="Meiryo" panose="020B0604030504040204" pitchFamily="34" charset="-128"/>
              </a:rPr>
              <a:t>算出に仕様</a:t>
            </a:r>
            <a:endParaRPr lang="en-US" altLang="ja-JP" sz="1000" dirty="0">
              <a:latin typeface="Meiryo" panose="020B0604030504040204" pitchFamily="34" charset="-128"/>
              <a:ea typeface="Meiryo" panose="020B0604030504040204" pitchFamily="34" charset="-128"/>
            </a:endParaRPr>
          </a:p>
          <a:p>
            <a:r>
              <a:rPr lang="ja-JP" altLang="en-US" sz="1000" b="1">
                <a:latin typeface="Meiryo" panose="020B0604030504040204" pitchFamily="34" charset="-128"/>
                <a:ea typeface="Meiryo" panose="020B0604030504040204" pitchFamily="34" charset="-128"/>
              </a:rPr>
              <a:t>＊ユーザーが初期設定時に入力した、</a:t>
            </a:r>
            <a:r>
              <a:rPr lang="en-US" altLang="ja-JP" sz="1000" b="1" dirty="0">
                <a:latin typeface="Meiryo" panose="020B0604030504040204" pitchFamily="34" charset="-128"/>
                <a:ea typeface="Meiryo" panose="020B0604030504040204" pitchFamily="34" charset="-128"/>
              </a:rPr>
              <a:t>1</a:t>
            </a:r>
            <a:r>
              <a:rPr lang="ja-JP" altLang="en-US" sz="1000" b="1">
                <a:latin typeface="Meiryo" panose="020B0604030504040204" pitchFamily="34" charset="-128"/>
                <a:ea typeface="Meiryo" panose="020B0604030504040204" pitchFamily="34" charset="-128"/>
              </a:rPr>
              <a:t>と</a:t>
            </a:r>
            <a:r>
              <a:rPr lang="en-US" altLang="ja-JP" sz="1000" b="1" dirty="0">
                <a:latin typeface="Meiryo" panose="020B0604030504040204" pitchFamily="34" charset="-128"/>
                <a:ea typeface="Meiryo" panose="020B0604030504040204" pitchFamily="34" charset="-128"/>
              </a:rPr>
              <a:t>2</a:t>
            </a:r>
            <a:r>
              <a:rPr lang="ja-JP" altLang="en-US" sz="1000" b="1">
                <a:latin typeface="Meiryo" panose="020B0604030504040204" pitchFamily="34" charset="-128"/>
                <a:ea typeface="Meiryo" panose="020B0604030504040204" pitchFamily="34" charset="-128"/>
              </a:rPr>
              <a:t>のデータからここまでを自動計算し可視化たい。</a:t>
            </a:r>
            <a:endParaRPr lang="en-US" altLang="ja-JP" sz="1000" b="1" dirty="0">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40265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1539ACE-D6D2-827E-E0A1-26E2E467D65F}"/>
              </a:ext>
            </a:extLst>
          </p:cNvPr>
          <p:cNvSpPr txBox="1"/>
          <p:nvPr/>
        </p:nvSpPr>
        <p:spPr>
          <a:xfrm>
            <a:off x="2051090" y="128419"/>
            <a:ext cx="2755819" cy="369332"/>
          </a:xfrm>
          <a:prstGeom prst="rect">
            <a:avLst/>
          </a:prstGeom>
          <a:noFill/>
        </p:spPr>
        <p:txBody>
          <a:bodyPr wrap="none" rtlCol="0">
            <a:spAutoFit/>
          </a:bodyPr>
          <a:lstStyle/>
          <a:p>
            <a:r>
              <a:rPr kumimoji="1" lang="en-US" altLang="ja-JP" dirty="0">
                <a:latin typeface="Meiryo" panose="020B0604030504040204" pitchFamily="34" charset="-128"/>
                <a:ea typeface="Meiryo" panose="020B0604030504040204" pitchFamily="34" charset="-128"/>
              </a:rPr>
              <a:t>KPI-Navigator </a:t>
            </a:r>
            <a:r>
              <a:rPr kumimoji="1" lang="ja-JP" altLang="en-US">
                <a:latin typeface="Meiryo" panose="020B0604030504040204" pitchFamily="34" charset="-128"/>
                <a:ea typeface="Meiryo" panose="020B0604030504040204" pitchFamily="34" charset="-128"/>
              </a:rPr>
              <a:t>機能詳細</a:t>
            </a:r>
          </a:p>
        </p:txBody>
      </p:sp>
      <p:sp>
        <p:nvSpPr>
          <p:cNvPr id="5" name="テキスト ボックス 4">
            <a:extLst>
              <a:ext uri="{FF2B5EF4-FFF2-40B4-BE49-F238E27FC236}">
                <a16:creationId xmlns:a16="http://schemas.microsoft.com/office/drawing/2014/main" id="{CF4BE554-5ED6-1181-B8BF-CA97709C4E6A}"/>
              </a:ext>
            </a:extLst>
          </p:cNvPr>
          <p:cNvSpPr txBox="1"/>
          <p:nvPr/>
        </p:nvSpPr>
        <p:spPr>
          <a:xfrm>
            <a:off x="583198" y="834644"/>
            <a:ext cx="5709185" cy="2554545"/>
          </a:xfrm>
          <a:prstGeom prst="rect">
            <a:avLst/>
          </a:prstGeom>
          <a:noFill/>
        </p:spPr>
        <p:txBody>
          <a:bodyPr wrap="square" rtlCol="0">
            <a:spAutoFit/>
          </a:bodyPr>
          <a:lstStyle/>
          <a:p>
            <a:r>
              <a:rPr lang="ja-JP" altLang="en-US" sz="1000">
                <a:latin typeface="Meiryo" panose="020B0604030504040204" pitchFamily="34" charset="-128"/>
                <a:ea typeface="Meiryo" panose="020B0604030504040204" pitchFamily="34" charset="-128"/>
              </a:rPr>
              <a:t>この</a:t>
            </a:r>
            <a:r>
              <a:rPr lang="en-US" altLang="ja-JP" sz="1000" dirty="0">
                <a:latin typeface="Meiryo" panose="020B0604030504040204" pitchFamily="34" charset="-128"/>
                <a:ea typeface="Meiryo" panose="020B0604030504040204" pitchFamily="34" charset="-128"/>
              </a:rPr>
              <a:t>PDF</a:t>
            </a:r>
            <a:r>
              <a:rPr lang="ja-JP" altLang="en-US" sz="1000">
                <a:latin typeface="Meiryo" panose="020B0604030504040204" pitchFamily="34" charset="-128"/>
                <a:ea typeface="Meiryo" panose="020B0604030504040204" pitchFamily="34" charset="-128"/>
              </a:rPr>
              <a:t>は</a:t>
            </a:r>
            <a:r>
              <a:rPr lang="en-US" altLang="ja-JP" sz="1000" dirty="0">
                <a:latin typeface="Meiryo" panose="020B0604030504040204" pitchFamily="34" charset="-128"/>
                <a:ea typeface="Meiryo" panose="020B0604030504040204" pitchFamily="34" charset="-128"/>
              </a:rPr>
              <a:t>ChatGPT Code Copilot</a:t>
            </a:r>
            <a:r>
              <a:rPr lang="ja-JP" altLang="en-US" sz="1000">
                <a:latin typeface="Meiryo" panose="020B0604030504040204" pitchFamily="34" charset="-128"/>
                <a:ea typeface="Meiryo" panose="020B0604030504040204" pitchFamily="34" charset="-128"/>
              </a:rPr>
              <a:t>に現在開発中の</a:t>
            </a:r>
            <a:r>
              <a:rPr lang="en-US" altLang="ja-JP" sz="1000" dirty="0">
                <a:latin typeface="Meiryo" panose="020B0604030504040204" pitchFamily="34" charset="-128"/>
                <a:ea typeface="Meiryo" panose="020B0604030504040204" pitchFamily="34" charset="-128"/>
              </a:rPr>
              <a:t>KPI Navigator</a:t>
            </a:r>
            <a:r>
              <a:rPr lang="ja-JP" altLang="en-US" sz="1000">
                <a:latin typeface="Meiryo" panose="020B0604030504040204" pitchFamily="34" charset="-128"/>
                <a:ea typeface="Meiryo" panose="020B0604030504040204" pitchFamily="34" charset="-128"/>
              </a:rPr>
              <a:t>の機能詳細や</a:t>
            </a:r>
            <a:r>
              <a:rPr lang="en-US" altLang="ja-JP" sz="1000" dirty="0">
                <a:latin typeface="Meiryo" panose="020B0604030504040204" pitchFamily="34" charset="-128"/>
                <a:ea typeface="Meiryo" panose="020B0604030504040204" pitchFamily="34" charset="-128"/>
              </a:rPr>
              <a:t>UI/UX</a:t>
            </a:r>
            <a:r>
              <a:rPr lang="ja-JP" altLang="en-US" sz="1000">
                <a:latin typeface="Meiryo" panose="020B0604030504040204" pitchFamily="34" charset="-128"/>
                <a:ea typeface="Meiryo" panose="020B0604030504040204" pitchFamily="34" charset="-128"/>
              </a:rPr>
              <a:t>のこだわり</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を伝えるために作成。</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基本的に作り始めたのは</a:t>
            </a:r>
            <a:r>
              <a:rPr lang="en-US" altLang="ja-JP" sz="1000" dirty="0">
                <a:latin typeface="Meiryo" panose="020B0604030504040204" pitchFamily="34" charset="-128"/>
                <a:ea typeface="Meiryo" panose="020B0604030504040204" pitchFamily="34" charset="-128"/>
              </a:rPr>
              <a:t>Google Spread Sheet</a:t>
            </a:r>
            <a:r>
              <a:rPr lang="ja-JP" altLang="en-US" sz="1000">
                <a:latin typeface="Meiryo" panose="020B0604030504040204" pitchFamily="34" charset="-128"/>
                <a:ea typeface="Meiryo" panose="020B0604030504040204" pitchFamily="34" charset="-128"/>
              </a:rPr>
              <a:t>で作成に着手し、構築したものを</a:t>
            </a:r>
            <a:r>
              <a:rPr lang="en-US" altLang="ja-JP" sz="1000" dirty="0">
                <a:latin typeface="Meiryo" panose="020B0604030504040204" pitchFamily="34" charset="-128"/>
                <a:ea typeface="Meiryo" panose="020B0604030504040204" pitchFamily="34" charset="-128"/>
              </a:rPr>
              <a:t>Web</a:t>
            </a:r>
            <a:r>
              <a:rPr lang="ja-JP" altLang="en-US" sz="1000">
                <a:latin typeface="Meiryo" panose="020B0604030504040204" pitchFamily="34" charset="-128"/>
                <a:ea typeface="Meiryo" panose="020B0604030504040204" pitchFamily="34" charset="-128"/>
              </a:rPr>
              <a:t>アプリにし</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ようと決心するほどのロジックと出来上がりでした。</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Excel</a:t>
            </a:r>
            <a:r>
              <a:rPr lang="ja-JP" altLang="en-US" sz="1000">
                <a:latin typeface="Meiryo" panose="020B0604030504040204" pitchFamily="34" charset="-128"/>
                <a:ea typeface="Meiryo" panose="020B0604030504040204" pitchFamily="34" charset="-128"/>
              </a:rPr>
              <a:t>や</a:t>
            </a:r>
            <a:r>
              <a:rPr lang="en-US" altLang="ja-JP" sz="1000" dirty="0">
                <a:latin typeface="Meiryo" panose="020B0604030504040204" pitchFamily="34" charset="-128"/>
                <a:ea typeface="Meiryo" panose="020B0604030504040204" pitchFamily="34" charset="-128"/>
              </a:rPr>
              <a:t>Google Spread Sheet</a:t>
            </a:r>
            <a:r>
              <a:rPr lang="ja-JP" altLang="en-US" sz="1000">
                <a:latin typeface="Meiryo" panose="020B0604030504040204" pitchFamily="34" charset="-128"/>
                <a:ea typeface="Meiryo" panose="020B0604030504040204" pitchFamily="34" charset="-128"/>
              </a:rPr>
              <a:t>は汎用性が高く、視認性</a:t>
            </a:r>
            <a:r>
              <a:rPr lang="en-US" altLang="ja-JP" sz="1000" dirty="0">
                <a:latin typeface="Meiryo" panose="020B0604030504040204" pitchFamily="34" charset="-128"/>
                <a:ea typeface="Meiryo" panose="020B0604030504040204" pitchFamily="34" charset="-128"/>
              </a:rPr>
              <a:t>(UI/UX)</a:t>
            </a:r>
            <a:r>
              <a:rPr lang="ja-JP" altLang="en-US" sz="1000">
                <a:latin typeface="Meiryo" panose="020B0604030504040204" pitchFamily="34" charset="-128"/>
                <a:ea typeface="Meiryo" panose="020B0604030504040204" pitchFamily="34" charset="-128"/>
              </a:rPr>
              <a:t>が悪く作り手の意味を理解しなと使いこなせない現象が起こりやすいです。いわゆる勉強が必要ということです。</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自分は</a:t>
            </a:r>
            <a:r>
              <a:rPr lang="en-US" altLang="ja-JP" sz="1000" dirty="0">
                <a:latin typeface="Meiryo" panose="020B0604030504040204" pitchFamily="34" charset="-128"/>
                <a:ea typeface="Meiryo" panose="020B0604030504040204" pitchFamily="34" charset="-128"/>
              </a:rPr>
              <a:t>IT</a:t>
            </a:r>
            <a:r>
              <a:rPr lang="ja-JP" altLang="en-US" sz="1000">
                <a:latin typeface="Meiryo" panose="020B0604030504040204" pitchFamily="34" charset="-128"/>
                <a:ea typeface="Meiryo" panose="020B0604030504040204" pitchFamily="34" charset="-128"/>
              </a:rPr>
              <a:t>系が大好きで、同時に飲食店の広報として現場に立ちながら</a:t>
            </a:r>
            <a:r>
              <a:rPr lang="en-US" altLang="ja-JP" sz="1000" dirty="0">
                <a:latin typeface="Meiryo" panose="020B0604030504040204" pitchFamily="34" charset="-128"/>
                <a:ea typeface="Meiryo" panose="020B0604030504040204" pitchFamily="34" charset="-128"/>
              </a:rPr>
              <a:t>SNS</a:t>
            </a:r>
            <a:r>
              <a:rPr lang="ja-JP" altLang="en-US" sz="1000">
                <a:latin typeface="Meiryo" panose="020B0604030504040204" pitchFamily="34" charset="-128"/>
                <a:ea typeface="Meiryo" panose="020B0604030504040204" pitchFamily="34" charset="-128"/>
              </a:rPr>
              <a:t>や</a:t>
            </a:r>
            <a:r>
              <a:rPr lang="en-US" altLang="ja-JP" sz="1000" dirty="0">
                <a:latin typeface="Meiryo" panose="020B0604030504040204" pitchFamily="34" charset="-128"/>
                <a:ea typeface="Meiryo" panose="020B0604030504040204" pitchFamily="34" charset="-128"/>
              </a:rPr>
              <a:t>Web</a:t>
            </a:r>
            <a:r>
              <a:rPr lang="ja-JP" altLang="en-US" sz="1000">
                <a:latin typeface="Meiryo" panose="020B0604030504040204" pitchFamily="34" charset="-128"/>
                <a:ea typeface="Meiryo" panose="020B0604030504040204" pitchFamily="34" charset="-128"/>
              </a:rPr>
              <a:t>サイト構築などに従事してきました、来店方ビジネスの特徴として現場スタッフは日々多忙を極めており、拘束時間も長い中、新しいシステム導入の際に勉強や慣れるなどのフェーズは極めてストレスを感じアレルギー反応を起こします。</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自分手動で</a:t>
            </a:r>
            <a:r>
              <a:rPr lang="en-US" altLang="ja-JP" sz="1000" dirty="0">
                <a:latin typeface="Meiryo" panose="020B0604030504040204" pitchFamily="34" charset="-128"/>
                <a:ea typeface="Meiryo" panose="020B0604030504040204" pitchFamily="34" charset="-128"/>
              </a:rPr>
              <a:t>Web</a:t>
            </a:r>
            <a:r>
              <a:rPr lang="ja-JP" altLang="en-US" sz="1000">
                <a:latin typeface="Meiryo" panose="020B0604030504040204" pitchFamily="34" charset="-128"/>
                <a:ea typeface="Meiryo" panose="020B0604030504040204" pitchFamily="34" charset="-128"/>
              </a:rPr>
              <a:t>予約システム、</a:t>
            </a:r>
            <a:r>
              <a:rPr lang="en-US" altLang="ja-JP" sz="1000" dirty="0">
                <a:latin typeface="Meiryo" panose="020B0604030504040204" pitchFamily="34" charset="-128"/>
                <a:ea typeface="Meiryo" panose="020B0604030504040204" pitchFamily="34" charset="-128"/>
              </a:rPr>
              <a:t>Table Check</a:t>
            </a:r>
            <a:r>
              <a:rPr lang="ja-JP" altLang="en-US" sz="1000">
                <a:latin typeface="Meiryo" panose="020B0604030504040204" pitchFamily="34" charset="-128"/>
                <a:ea typeface="Meiryo" panose="020B0604030504040204" pitchFamily="34" charset="-128"/>
              </a:rPr>
              <a:t>を導入しましたが、</a:t>
            </a:r>
            <a:r>
              <a:rPr lang="en-US" altLang="ja-JP" sz="1000" dirty="0">
                <a:latin typeface="Meiryo" panose="020B0604030504040204" pitchFamily="34" charset="-128"/>
                <a:ea typeface="Meiryo" panose="020B0604030504040204" pitchFamily="34" charset="-128"/>
              </a:rPr>
              <a:t>UI/UX</a:t>
            </a:r>
            <a:r>
              <a:rPr lang="ja-JP" altLang="en-US" sz="1000">
                <a:latin typeface="Meiryo" panose="020B0604030504040204" pitchFamily="34" charset="-128"/>
                <a:ea typeface="Meiryo" panose="020B0604030504040204" pitchFamily="34" charset="-128"/>
              </a:rPr>
              <a:t>使用感が悪く、自分もかなり勉強や慣れのためにいじってはいるのですが、以前としてヘルプデスクやヘルプ</a:t>
            </a:r>
            <a:r>
              <a:rPr lang="en-US" altLang="ja-JP" sz="1000" dirty="0">
                <a:latin typeface="Meiryo" panose="020B0604030504040204" pitchFamily="34" charset="-128"/>
                <a:ea typeface="Meiryo" panose="020B0604030504040204" pitchFamily="34" charset="-128"/>
              </a:rPr>
              <a:t>LINE</a:t>
            </a:r>
            <a:r>
              <a:rPr lang="ja-JP" altLang="en-US" sz="1000">
                <a:latin typeface="Meiryo" panose="020B0604030504040204" pitchFamily="34" charset="-128"/>
                <a:ea typeface="Meiryo" panose="020B0604030504040204" pitchFamily="34" charset="-128"/>
              </a:rPr>
              <a:t>での質問が必要でストレスを感じ、流石にこれは理解してもらうや、浸透するまでに時間がかかるなと感じました。</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この体験から</a:t>
            </a:r>
            <a:r>
              <a:rPr lang="en-US" altLang="ja-JP" sz="1000" dirty="0">
                <a:latin typeface="Meiryo" panose="020B0604030504040204" pitchFamily="34" charset="-128"/>
                <a:ea typeface="Meiryo" panose="020B0604030504040204" pitchFamily="34" charset="-128"/>
              </a:rPr>
              <a:t>UI/UX</a:t>
            </a:r>
            <a:r>
              <a:rPr lang="ja-JP" altLang="en-US" sz="1000">
                <a:latin typeface="Meiryo" panose="020B0604030504040204" pitchFamily="34" charset="-128"/>
                <a:ea typeface="Meiryo" panose="020B0604030504040204" pitchFamily="34" charset="-128"/>
              </a:rPr>
              <a:t>の重要性を考える様になり、汎用性の低い</a:t>
            </a:r>
            <a:r>
              <a:rPr lang="en-US" altLang="ja-JP" sz="1000" dirty="0">
                <a:latin typeface="Meiryo" panose="020B0604030504040204" pitchFamily="34" charset="-128"/>
                <a:ea typeface="Meiryo" panose="020B0604030504040204" pitchFamily="34" charset="-128"/>
              </a:rPr>
              <a:t>Web</a:t>
            </a:r>
            <a:r>
              <a:rPr lang="ja-JP" altLang="en-US" sz="1000">
                <a:latin typeface="Meiryo" panose="020B0604030504040204" pitchFamily="34" charset="-128"/>
                <a:ea typeface="Meiryo" panose="020B0604030504040204" pitchFamily="34" charset="-128"/>
              </a:rPr>
              <a:t>アプリの開発を考える様になりました。</a:t>
            </a:r>
          </a:p>
        </p:txBody>
      </p:sp>
      <p:sp>
        <p:nvSpPr>
          <p:cNvPr id="6" name="テキスト ボックス 5">
            <a:extLst>
              <a:ext uri="{FF2B5EF4-FFF2-40B4-BE49-F238E27FC236}">
                <a16:creationId xmlns:a16="http://schemas.microsoft.com/office/drawing/2014/main" id="{0DAAE186-AEC8-492E-A305-DE9B81703DC2}"/>
              </a:ext>
            </a:extLst>
          </p:cNvPr>
          <p:cNvSpPr txBox="1"/>
          <p:nvPr/>
        </p:nvSpPr>
        <p:spPr>
          <a:xfrm>
            <a:off x="239615" y="548853"/>
            <a:ext cx="1619354" cy="276999"/>
          </a:xfrm>
          <a:prstGeom prst="rect">
            <a:avLst/>
          </a:prstGeom>
          <a:noFill/>
        </p:spPr>
        <p:txBody>
          <a:bodyPr wrap="none" rtlCol="0">
            <a:spAutoFit/>
          </a:bodyPr>
          <a:lstStyle/>
          <a:p>
            <a:r>
              <a:rPr lang="en" altLang="ja-JP" sz="1200" dirty="0">
                <a:latin typeface="Meiryo" panose="020B0604030504040204" pitchFamily="34" charset="-128"/>
                <a:ea typeface="Meiryo" panose="020B0604030504040204" pitchFamily="34" charset="-128"/>
              </a:rPr>
              <a:t>1. </a:t>
            </a:r>
            <a:r>
              <a:rPr lang="ja-JP" altLang="en-US" sz="1200">
                <a:latin typeface="Meiryo" panose="020B0604030504040204" pitchFamily="34" charset="-128"/>
                <a:ea typeface="Meiryo" panose="020B0604030504040204" pitchFamily="34" charset="-128"/>
              </a:rPr>
              <a:t>開発に至った経緯</a:t>
            </a:r>
            <a:endParaRPr lang="en-US" altLang="ja-JP" sz="1200" dirty="0">
              <a:latin typeface="Meiryo" panose="020B0604030504040204" pitchFamily="34" charset="-128"/>
              <a:ea typeface="Meiryo" panose="020B0604030504040204" pitchFamily="34" charset="-128"/>
            </a:endParaRPr>
          </a:p>
        </p:txBody>
      </p:sp>
      <p:sp>
        <p:nvSpPr>
          <p:cNvPr id="7" name="テキスト ボックス 6">
            <a:extLst>
              <a:ext uri="{FF2B5EF4-FFF2-40B4-BE49-F238E27FC236}">
                <a16:creationId xmlns:a16="http://schemas.microsoft.com/office/drawing/2014/main" id="{997AAE8A-3026-CF3E-9901-99FE98537790}"/>
              </a:ext>
            </a:extLst>
          </p:cNvPr>
          <p:cNvSpPr txBox="1"/>
          <p:nvPr/>
        </p:nvSpPr>
        <p:spPr>
          <a:xfrm>
            <a:off x="239615" y="3459427"/>
            <a:ext cx="1619354" cy="276999"/>
          </a:xfrm>
          <a:prstGeom prst="rect">
            <a:avLst/>
          </a:prstGeom>
          <a:noFill/>
        </p:spPr>
        <p:txBody>
          <a:bodyPr wrap="none" rtlCol="0">
            <a:spAutoFit/>
          </a:bodyPr>
          <a:lstStyle/>
          <a:p>
            <a:r>
              <a:rPr lang="en" altLang="ja-JP" sz="1200" dirty="0">
                <a:latin typeface="Meiryo" panose="020B0604030504040204" pitchFamily="34" charset="-128"/>
                <a:ea typeface="Meiryo" panose="020B0604030504040204" pitchFamily="34" charset="-128"/>
              </a:rPr>
              <a:t>2. </a:t>
            </a:r>
            <a:r>
              <a:rPr lang="ja-JP" altLang="en-US" sz="1200">
                <a:latin typeface="Meiryo" panose="020B0604030504040204" pitchFamily="34" charset="-128"/>
                <a:ea typeface="Meiryo" panose="020B0604030504040204" pitchFamily="34" charset="-128"/>
              </a:rPr>
              <a:t>こだわりポイント</a:t>
            </a:r>
            <a:endParaRPr lang="en-US" altLang="ja-JP" sz="1200" dirty="0">
              <a:latin typeface="Meiryo" panose="020B0604030504040204" pitchFamily="34" charset="-128"/>
              <a:ea typeface="Meiryo" panose="020B0604030504040204" pitchFamily="34" charset="-128"/>
            </a:endParaRPr>
          </a:p>
        </p:txBody>
      </p:sp>
      <p:sp>
        <p:nvSpPr>
          <p:cNvPr id="8" name="テキスト ボックス 7">
            <a:extLst>
              <a:ext uri="{FF2B5EF4-FFF2-40B4-BE49-F238E27FC236}">
                <a16:creationId xmlns:a16="http://schemas.microsoft.com/office/drawing/2014/main" id="{8021F559-D715-9CA8-2932-3DD236363A7E}"/>
              </a:ext>
            </a:extLst>
          </p:cNvPr>
          <p:cNvSpPr txBox="1"/>
          <p:nvPr/>
        </p:nvSpPr>
        <p:spPr>
          <a:xfrm>
            <a:off x="583198" y="3727534"/>
            <a:ext cx="5709185" cy="1477328"/>
          </a:xfrm>
          <a:prstGeom prst="rect">
            <a:avLst/>
          </a:prstGeom>
          <a:noFill/>
        </p:spPr>
        <p:txBody>
          <a:bodyPr wrap="square" rtlCol="0">
            <a:spAutoFit/>
          </a:bodyPr>
          <a:lstStyle/>
          <a:p>
            <a:r>
              <a:rPr lang="ja-JP" altLang="en-US" sz="1000">
                <a:latin typeface="Meiryo" panose="020B0604030504040204" pitchFamily="34" charset="-128"/>
                <a:ea typeface="Meiryo" panose="020B0604030504040204" pitchFamily="34" charset="-128"/>
              </a:rPr>
              <a:t>・利用いただく方へ、そのお店の過去の売り上げデータから、根拠ある</a:t>
            </a:r>
            <a:r>
              <a:rPr lang="en-US" altLang="ja-JP" sz="1000" dirty="0">
                <a:latin typeface="Meiryo" panose="020B0604030504040204" pitchFamily="34" charset="-128"/>
                <a:ea typeface="Meiryo" panose="020B0604030504040204" pitchFamily="34" charset="-128"/>
              </a:rPr>
              <a:t>KPI</a:t>
            </a:r>
            <a:r>
              <a:rPr lang="ja-JP" altLang="en-US" sz="1000">
                <a:latin typeface="Meiryo" panose="020B0604030504040204" pitchFamily="34" charset="-128"/>
                <a:ea typeface="Meiryo" panose="020B0604030504040204" pitchFamily="34" charset="-128"/>
              </a:rPr>
              <a:t>を提供するが一番のこだわり機能</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ツールを乗り換えてもらいたいので収支を記録する機能も搭載する→</a:t>
            </a:r>
            <a:r>
              <a:rPr lang="en-US" altLang="ja-JP" sz="1000" dirty="0">
                <a:latin typeface="Meiryo" panose="020B0604030504040204" pitchFamily="34" charset="-128"/>
                <a:ea typeface="Meiryo" panose="020B0604030504040204" pitchFamily="34" charset="-128"/>
              </a:rPr>
              <a:t>PL</a:t>
            </a:r>
            <a:r>
              <a:rPr lang="ja-JP" altLang="en-US" sz="1000">
                <a:latin typeface="Meiryo" panose="020B0604030504040204" pitchFamily="34" charset="-128"/>
                <a:ea typeface="Meiryo" panose="020B0604030504040204" pitchFamily="34" charset="-128"/>
              </a:rPr>
              <a:t>表自動作成</a:t>
            </a:r>
            <a:r>
              <a:rPr lang="en-US" altLang="ja-JP" sz="1000" dirty="0">
                <a:latin typeface="Meiryo" panose="020B0604030504040204" pitchFamily="34" charset="-128"/>
                <a:ea typeface="Meiryo" panose="020B0604030504040204" pitchFamily="34" charset="-128"/>
              </a:rPr>
              <a:t>)</a:t>
            </a:r>
          </a:p>
          <a:p>
            <a:r>
              <a:rPr lang="ja-JP" altLang="en-US" sz="1000">
                <a:latin typeface="Meiryo" panose="020B0604030504040204" pitchFamily="34" charset="-128"/>
                <a:ea typeface="Meiryo" panose="020B0604030504040204" pitchFamily="34" charset="-128"/>
              </a:rPr>
              <a:t>・</a:t>
            </a:r>
            <a:r>
              <a:rPr lang="en-US" altLang="ja-JP" sz="1000" dirty="0">
                <a:latin typeface="Meiryo" panose="020B0604030504040204" pitchFamily="34" charset="-128"/>
                <a:ea typeface="Meiryo" panose="020B0604030504040204" pitchFamily="34" charset="-128"/>
              </a:rPr>
              <a:t>UI/UX</a:t>
            </a:r>
            <a:r>
              <a:rPr lang="ja-JP" altLang="en-US" sz="1000">
                <a:latin typeface="Meiryo" panose="020B0604030504040204" pitchFamily="34" charset="-128"/>
                <a:ea typeface="Meiryo" panose="020B0604030504040204" pitchFamily="34" charset="-128"/>
              </a:rPr>
              <a:t>の簡略化、</a:t>
            </a:r>
            <a:r>
              <a:rPr lang="en-US" altLang="ja-JP" sz="1000" dirty="0">
                <a:latin typeface="Meiryo" panose="020B0604030504040204" pitchFamily="34" charset="-128"/>
                <a:ea typeface="Meiryo" panose="020B0604030504040204" pitchFamily="34" charset="-128"/>
              </a:rPr>
              <a:t>Apple</a:t>
            </a:r>
            <a:r>
              <a:rPr lang="ja-JP" altLang="en-US" sz="1000">
                <a:latin typeface="Meiryo" panose="020B0604030504040204" pitchFamily="34" charset="-128"/>
                <a:ea typeface="Meiryo" panose="020B0604030504040204" pitchFamily="34" charset="-128"/>
              </a:rPr>
              <a:t>製品をお手本とした説明書要らずの</a:t>
            </a:r>
            <a:r>
              <a:rPr lang="en-US" altLang="ja-JP" sz="1000" dirty="0">
                <a:latin typeface="Meiryo" panose="020B0604030504040204" pitchFamily="34" charset="-128"/>
                <a:ea typeface="Meiryo" panose="020B0604030504040204" pitchFamily="34" charset="-128"/>
              </a:rPr>
              <a:t>UI</a:t>
            </a:r>
            <a:r>
              <a:rPr lang="ja-JP" altLang="en-US" sz="1000">
                <a:latin typeface="Meiryo" panose="020B0604030504040204" pitchFamily="34" charset="-128"/>
                <a:ea typeface="Meiryo" panose="020B0604030504040204" pitchFamily="34" charset="-128"/>
              </a:rPr>
              <a:t>を目指したい</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・攻殻機動隊好き、ビジネスシーンでも使ってもらえる程度の</a:t>
            </a:r>
            <a:r>
              <a:rPr lang="en-US" altLang="ja-JP" sz="1000" dirty="0">
                <a:latin typeface="Meiryo" panose="020B0604030504040204" pitchFamily="34" charset="-128"/>
                <a:ea typeface="Meiryo" panose="020B0604030504040204" pitchFamily="34" charset="-128"/>
              </a:rPr>
              <a:t>Si-Fi</a:t>
            </a:r>
            <a:r>
              <a:rPr lang="ja-JP" altLang="en-US" sz="1000">
                <a:latin typeface="Meiryo" panose="020B0604030504040204" pitchFamily="34" charset="-128"/>
                <a:ea typeface="Meiryo" panose="020B0604030504040204" pitchFamily="34" charset="-128"/>
              </a:rPr>
              <a:t>要素を散りばめたい</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・アニメーション的動きを導入して視覚的に</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触って楽しい</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を経験してもらいたい</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・昔の</a:t>
            </a:r>
            <a:r>
              <a:rPr lang="en-US" altLang="ja-JP" sz="1000" dirty="0">
                <a:latin typeface="Meiryo" panose="020B0604030504040204" pitchFamily="34" charset="-128"/>
                <a:ea typeface="Meiryo" panose="020B0604030504040204" pitchFamily="34" charset="-128"/>
              </a:rPr>
              <a:t>iPod</a:t>
            </a:r>
            <a:r>
              <a:rPr lang="ja-JP" altLang="en-US" sz="1000">
                <a:latin typeface="Meiryo" panose="020B0604030504040204" pitchFamily="34" charset="-128"/>
                <a:ea typeface="Meiryo" panose="020B0604030504040204" pitchFamily="34" charset="-128"/>
              </a:rPr>
              <a:t>のホイールクリック音を使いたい</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眼鏡</a:t>
            </a:r>
            <a:r>
              <a:rPr lang="en-US" altLang="ja-JP" sz="1000" dirty="0">
                <a:latin typeface="Meiryo" panose="020B0604030504040204" pitchFamily="34" charset="-128"/>
                <a:ea typeface="Meiryo" panose="020B0604030504040204" pitchFamily="34" charset="-128"/>
              </a:rPr>
              <a:t>Bar</a:t>
            </a:r>
            <a:r>
              <a:rPr lang="ja-JP" altLang="en-US" sz="1000">
                <a:latin typeface="Meiryo" panose="020B0604030504040204" pitchFamily="34" charset="-128"/>
                <a:ea typeface="Meiryo" panose="020B0604030504040204" pitchFamily="34" charset="-128"/>
              </a:rPr>
              <a:t>：後ほど説明</a:t>
            </a:r>
            <a:r>
              <a:rPr lang="en-US" altLang="ja-JP" sz="1000" dirty="0">
                <a:latin typeface="Meiryo" panose="020B0604030504040204" pitchFamily="34" charset="-128"/>
                <a:ea typeface="Meiryo" panose="020B0604030504040204" pitchFamily="34" charset="-128"/>
              </a:rPr>
              <a:t>)</a:t>
            </a:r>
          </a:p>
          <a:p>
            <a:r>
              <a:rPr lang="ja-JP" altLang="en-US" sz="1000">
                <a:latin typeface="Meiryo" panose="020B0604030504040204" pitchFamily="34" charset="-128"/>
                <a:ea typeface="Meiryo" panose="020B0604030504040204" pitchFamily="34" charset="-128"/>
              </a:rPr>
              <a:t>・ローディング時なのか、利用者に何かを待ってもらう時は</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タチコマの目</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が</a:t>
            </a:r>
            <a:r>
              <a:rPr lang="en-US" altLang="ja-JP" sz="1000" dirty="0">
                <a:latin typeface="Meiryo" panose="020B0604030504040204" pitchFamily="34" charset="-128"/>
                <a:ea typeface="Meiryo" panose="020B0604030504040204" pitchFamily="34" charset="-128"/>
              </a:rPr>
              <a:t>X</a:t>
            </a:r>
            <a:r>
              <a:rPr lang="ja-JP" altLang="en-US" sz="1000">
                <a:latin typeface="Meiryo" panose="020B0604030504040204" pitchFamily="34" charset="-128"/>
                <a:ea typeface="Meiryo" panose="020B0604030504040204" pitchFamily="34" charset="-128"/>
              </a:rPr>
              <a:t>軸、</a:t>
            </a:r>
            <a:r>
              <a:rPr lang="en-US" altLang="ja-JP" sz="1000" dirty="0">
                <a:latin typeface="Meiryo" panose="020B0604030504040204" pitchFamily="34" charset="-128"/>
                <a:ea typeface="Meiryo" panose="020B0604030504040204" pitchFamily="34" charset="-128"/>
              </a:rPr>
              <a:t>Y</a:t>
            </a:r>
            <a:r>
              <a:rPr lang="ja-JP" altLang="en-US" sz="1000">
                <a:latin typeface="Meiryo" panose="020B0604030504040204" pitchFamily="34" charset="-128"/>
                <a:ea typeface="Meiryo" panose="020B0604030504040204" pitchFamily="34" charset="-128"/>
              </a:rPr>
              <a:t>軸、</a:t>
            </a:r>
            <a:r>
              <a:rPr lang="en-US" altLang="ja-JP" sz="1000" dirty="0">
                <a:latin typeface="Meiryo" panose="020B0604030504040204" pitchFamily="34" charset="-128"/>
                <a:ea typeface="Meiryo" panose="020B0604030504040204" pitchFamily="34" charset="-128"/>
              </a:rPr>
              <a:t>Z</a:t>
            </a:r>
            <a:r>
              <a:rPr lang="ja-JP" altLang="en-US" sz="1000">
                <a:latin typeface="Meiryo" panose="020B0604030504040204" pitchFamily="34" charset="-128"/>
                <a:ea typeface="Meiryo" panose="020B0604030504040204" pitchFamily="34" charset="-128"/>
              </a:rPr>
              <a:t>軸でくるくるランダムに回る</a:t>
            </a:r>
            <a:endParaRPr lang="en-US" altLang="ja-JP" sz="1000" dirty="0">
              <a:latin typeface="Meiryo" panose="020B0604030504040204" pitchFamily="34" charset="-128"/>
              <a:ea typeface="Meiryo" panose="020B0604030504040204" pitchFamily="34" charset="-128"/>
            </a:endParaRPr>
          </a:p>
        </p:txBody>
      </p:sp>
      <p:sp>
        <p:nvSpPr>
          <p:cNvPr id="9" name="テキスト ボックス 8">
            <a:extLst>
              <a:ext uri="{FF2B5EF4-FFF2-40B4-BE49-F238E27FC236}">
                <a16:creationId xmlns:a16="http://schemas.microsoft.com/office/drawing/2014/main" id="{71C73791-B711-E028-1E7C-96F1541C871D}"/>
              </a:ext>
            </a:extLst>
          </p:cNvPr>
          <p:cNvSpPr txBox="1"/>
          <p:nvPr/>
        </p:nvSpPr>
        <p:spPr>
          <a:xfrm>
            <a:off x="239615" y="5250496"/>
            <a:ext cx="1003801" cy="276999"/>
          </a:xfrm>
          <a:prstGeom prst="rect">
            <a:avLst/>
          </a:prstGeom>
          <a:noFill/>
        </p:spPr>
        <p:txBody>
          <a:bodyPr wrap="none" rtlCol="0">
            <a:spAutoFit/>
          </a:bodyPr>
          <a:lstStyle/>
          <a:p>
            <a:r>
              <a:rPr lang="en" altLang="ja-JP" sz="1200" dirty="0">
                <a:latin typeface="Meiryo" panose="020B0604030504040204" pitchFamily="34" charset="-128"/>
                <a:ea typeface="Meiryo" panose="020B0604030504040204" pitchFamily="34" charset="-128"/>
              </a:rPr>
              <a:t>3. </a:t>
            </a:r>
            <a:r>
              <a:rPr lang="ja-JP" altLang="en-US" sz="1200">
                <a:latin typeface="Meiryo" panose="020B0604030504040204" pitchFamily="34" charset="-128"/>
                <a:ea typeface="Meiryo" panose="020B0604030504040204" pitchFamily="34" charset="-128"/>
              </a:rPr>
              <a:t>機能説明</a:t>
            </a:r>
            <a:endParaRPr lang="en-US" altLang="ja-JP" sz="1200" dirty="0">
              <a:latin typeface="Meiryo" panose="020B0604030504040204" pitchFamily="34" charset="-128"/>
              <a:ea typeface="Meiryo" panose="020B0604030504040204" pitchFamily="34" charset="-128"/>
            </a:endParaRPr>
          </a:p>
        </p:txBody>
      </p:sp>
      <p:sp>
        <p:nvSpPr>
          <p:cNvPr id="10" name="テキスト ボックス 9">
            <a:extLst>
              <a:ext uri="{FF2B5EF4-FFF2-40B4-BE49-F238E27FC236}">
                <a16:creationId xmlns:a16="http://schemas.microsoft.com/office/drawing/2014/main" id="{3A515E39-5D83-974D-39AA-B3F7104DD5EF}"/>
              </a:ext>
            </a:extLst>
          </p:cNvPr>
          <p:cNvSpPr txBox="1"/>
          <p:nvPr/>
        </p:nvSpPr>
        <p:spPr>
          <a:xfrm>
            <a:off x="583198" y="5509811"/>
            <a:ext cx="5709185" cy="4247317"/>
          </a:xfrm>
          <a:prstGeom prst="rect">
            <a:avLst/>
          </a:prstGeom>
          <a:noFill/>
        </p:spPr>
        <p:txBody>
          <a:bodyPr wrap="square" rtlCol="0">
            <a:spAutoFit/>
          </a:bodyPr>
          <a:lstStyle/>
          <a:p>
            <a:r>
              <a:rPr lang="ja-JP" altLang="en-US" sz="1000">
                <a:latin typeface="Meiryo" panose="020B0604030504040204" pitchFamily="34" charset="-128"/>
                <a:ea typeface="Meiryo" panose="020B0604030504040204" pitchFamily="34" charset="-128"/>
              </a:rPr>
              <a:t>・今年の</a:t>
            </a:r>
            <a:r>
              <a:rPr lang="en-US" altLang="ja-JP" sz="1000" dirty="0">
                <a:latin typeface="Meiryo" panose="020B0604030504040204" pitchFamily="34" charset="-128"/>
                <a:ea typeface="Meiryo" panose="020B0604030504040204" pitchFamily="34" charset="-128"/>
              </a:rPr>
              <a:t>KPI</a:t>
            </a:r>
            <a:r>
              <a:rPr lang="ja-JP" altLang="en-US" sz="1000">
                <a:latin typeface="Meiryo" panose="020B0604030504040204" pitchFamily="34" charset="-128"/>
                <a:ea typeface="Meiryo" panose="020B0604030504040204" pitchFamily="34" charset="-128"/>
              </a:rPr>
              <a:t>設定方法</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前年の日次の売上額を入力</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前年の年次の総売上を把握</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前年の総営業日数を設定・算出</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営業日を月次に振り分ける→月次の営業日数算出</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en-US" altLang="ja-JP" sz="1000" dirty="0">
                <a:latin typeface="Meiryo" panose="020B0604030504040204" pitchFamily="34" charset="-128"/>
                <a:ea typeface="Meiryo" panose="020B0604030504040204" pitchFamily="34" charset="-128"/>
              </a:rPr>
              <a:t>2</a:t>
            </a:r>
            <a:r>
              <a:rPr lang="ja-JP" altLang="en-US" sz="1000">
                <a:latin typeface="Meiryo" panose="020B0604030504040204" pitchFamily="34" charset="-128"/>
                <a:ea typeface="Meiryo" panose="020B0604030504040204" pitchFamily="34" charset="-128"/>
              </a:rPr>
              <a:t>で出た前年総売上を前年総営業日数で割り、日次平均売上額を算出</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日次平均売上と月次営業日数をかけて、月次平均売上を算出</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en-US" altLang="ja-JP" sz="1000" dirty="0">
                <a:latin typeface="Meiryo" panose="020B0604030504040204" pitchFamily="34" charset="-128"/>
                <a:ea typeface="Meiryo" panose="020B0604030504040204" pitchFamily="34" charset="-128"/>
              </a:rPr>
              <a:t>6</a:t>
            </a:r>
            <a:r>
              <a:rPr lang="ja-JP" altLang="en-US" sz="1000">
                <a:latin typeface="Meiryo" panose="020B0604030504040204" pitchFamily="34" charset="-128"/>
                <a:ea typeface="Meiryo" panose="020B0604030504040204" pitchFamily="34" charset="-128"/>
              </a:rPr>
              <a:t>で算出した月次平均売上と月次実績売上から閑散期パーセンテージを算出</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各月の各曜日の平均売上額算出</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月曜日</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日曜日</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en-US" altLang="ja-JP" sz="1000" dirty="0">
                <a:latin typeface="Meiryo" panose="020B0604030504040204" pitchFamily="34" charset="-128"/>
                <a:ea typeface="Meiryo" panose="020B0604030504040204" pitchFamily="34" charset="-128"/>
              </a:rPr>
              <a:t>2025</a:t>
            </a:r>
            <a:r>
              <a:rPr lang="ja-JP" altLang="en-US" sz="1000">
                <a:latin typeface="Meiryo" panose="020B0604030504040204" pitchFamily="34" charset="-128"/>
                <a:ea typeface="Meiryo" panose="020B0604030504040204" pitchFamily="34" charset="-128"/>
              </a:rPr>
              <a:t>年の年間目標売上額設定</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前年対比から現実味のある設定必須</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 </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en-US" altLang="ja-JP" sz="1000" dirty="0">
                <a:latin typeface="Meiryo" panose="020B0604030504040204" pitchFamily="34" charset="-128"/>
                <a:ea typeface="Meiryo" panose="020B0604030504040204" pitchFamily="34" charset="-128"/>
              </a:rPr>
              <a:t>2025</a:t>
            </a:r>
            <a:r>
              <a:rPr lang="ja-JP" altLang="en-US" sz="1000">
                <a:latin typeface="Meiryo" panose="020B0604030504040204" pitchFamily="34" charset="-128"/>
                <a:ea typeface="Meiryo" panose="020B0604030504040204" pitchFamily="34" charset="-128"/>
              </a:rPr>
              <a:t>年の総営業日数設定</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各月の営業日算出</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各月の目標平均売上額算出</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en-US" altLang="ja-JP" sz="1000" dirty="0">
                <a:latin typeface="Meiryo" panose="020B0604030504040204" pitchFamily="34" charset="-128"/>
                <a:ea typeface="Meiryo" panose="020B0604030504040204" pitchFamily="34" charset="-128"/>
              </a:rPr>
              <a:t>2025</a:t>
            </a:r>
            <a:r>
              <a:rPr lang="ja-JP" altLang="en-US" sz="1000">
                <a:latin typeface="Meiryo" panose="020B0604030504040204" pitchFamily="34" charset="-128"/>
                <a:ea typeface="Meiryo" panose="020B0604030504040204" pitchFamily="34" charset="-128"/>
              </a:rPr>
              <a:t>年の各月に</a:t>
            </a:r>
            <a:r>
              <a:rPr lang="en-US" altLang="ja-JP" sz="1000" dirty="0">
                <a:latin typeface="Meiryo" panose="020B0604030504040204" pitchFamily="34" charset="-128"/>
                <a:ea typeface="Meiryo" panose="020B0604030504040204" pitchFamily="34" charset="-128"/>
              </a:rPr>
              <a:t>2024</a:t>
            </a:r>
            <a:r>
              <a:rPr lang="ja-JP" altLang="en-US" sz="1000">
                <a:latin typeface="Meiryo" panose="020B0604030504040204" pitchFamily="34" charset="-128"/>
                <a:ea typeface="Meiryo" panose="020B0604030504040204" pitchFamily="34" charset="-128"/>
              </a:rPr>
              <a:t>年各月の繁閑期パーセンテージを設定、根拠のある目標額算出</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en-US" altLang="ja-JP" sz="1000" dirty="0">
                <a:latin typeface="Meiryo" panose="020B0604030504040204" pitchFamily="34" charset="-128"/>
                <a:ea typeface="Meiryo" panose="020B0604030504040204" pitchFamily="34" charset="-128"/>
              </a:rPr>
              <a:t>13</a:t>
            </a:r>
            <a:r>
              <a:rPr lang="ja-JP" altLang="en-US" sz="1000">
                <a:latin typeface="Meiryo" panose="020B0604030504040204" pitchFamily="34" charset="-128"/>
                <a:ea typeface="Meiryo" panose="020B0604030504040204" pitchFamily="34" charset="-128"/>
              </a:rPr>
              <a:t>で得た各月繁閑期目標額を</a:t>
            </a:r>
            <a:r>
              <a:rPr lang="en-US" altLang="ja-JP" sz="1000" dirty="0">
                <a:latin typeface="Meiryo" panose="020B0604030504040204" pitchFamily="34" charset="-128"/>
                <a:ea typeface="Meiryo" panose="020B0604030504040204" pitchFamily="34" charset="-128"/>
              </a:rPr>
              <a:t>100%</a:t>
            </a:r>
            <a:r>
              <a:rPr lang="ja-JP" altLang="en-US" sz="1000">
                <a:latin typeface="Meiryo" panose="020B0604030504040204" pitchFamily="34" charset="-128"/>
                <a:ea typeface="Meiryo" panose="020B0604030504040204" pitchFamily="34" charset="-128"/>
              </a:rPr>
              <a:t>とした、前年の各曜日の平均売上額を考慮した</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各月の各曜日の平均売上額</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を各月の各曜日の目標額に設定</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ユーザーが毎営業日に売上を入力</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日次、月次、年次各カテゴリーの実質売上、目標額、差額、達成率を表記。＊月次では負けていても年次では勝っているパターンなど、後々の繁閑期率の上方下方修正のために使用。</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支出管理、発注もの、現金小口ものの支出を管理する表、</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en-US" altLang="ja-JP" sz="1000" dirty="0">
                <a:latin typeface="Meiryo" panose="020B0604030504040204" pitchFamily="34" charset="-128"/>
                <a:ea typeface="Meiryo" panose="020B0604030504040204" pitchFamily="34" charset="-128"/>
              </a:rPr>
              <a:t>PL</a:t>
            </a:r>
            <a:r>
              <a:rPr lang="ja-JP" altLang="en-US" sz="1000">
                <a:latin typeface="Meiryo" panose="020B0604030504040204" pitchFamily="34" charset="-128"/>
                <a:ea typeface="Meiryo" panose="020B0604030504040204" pitchFamily="34" charset="-128"/>
              </a:rPr>
              <a:t>表自動作成</a:t>
            </a:r>
            <a:endParaRPr lang="en-US" altLang="ja-JP" sz="1000" dirty="0">
              <a:latin typeface="Meiryo" panose="020B0604030504040204" pitchFamily="34" charset="-128"/>
              <a:ea typeface="Meiryo" panose="020B0604030504040204" pitchFamily="34" charset="-128"/>
            </a:endParaRPr>
          </a:p>
          <a:p>
            <a:pPr marL="228600" indent="-228600">
              <a:buAutoNum type="arabicPeriod"/>
            </a:pP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将来機能として、予約管理、シフト管理機能を持たせ経営に関してワンストップで網羅できる機能を持ちたい、</a:t>
            </a:r>
            <a:r>
              <a:rPr lang="en-US" altLang="ja-JP" sz="1000" dirty="0">
                <a:latin typeface="Meiryo" panose="020B0604030504040204" pitchFamily="34" charset="-128"/>
                <a:ea typeface="Meiryo" panose="020B0604030504040204" pitchFamily="34" charset="-128"/>
              </a:rPr>
              <a:t>Table Check</a:t>
            </a:r>
            <a:r>
              <a:rPr lang="ja-JP" altLang="en-US" sz="1000">
                <a:latin typeface="Meiryo" panose="020B0604030504040204" pitchFamily="34" charset="-128"/>
                <a:ea typeface="Meiryo" panose="020B0604030504040204" pitchFamily="34" charset="-128"/>
              </a:rPr>
              <a:t>の</a:t>
            </a:r>
            <a:r>
              <a:rPr lang="en-US" altLang="ja-JP" sz="1000" dirty="0">
                <a:latin typeface="Meiryo" panose="020B0604030504040204" pitchFamily="34" charset="-128"/>
                <a:ea typeface="Meiryo" panose="020B0604030504040204" pitchFamily="34" charset="-128"/>
              </a:rPr>
              <a:t>API</a:t>
            </a:r>
            <a:r>
              <a:rPr lang="ja-JP" altLang="en-US" sz="1000">
                <a:latin typeface="Meiryo" panose="020B0604030504040204" pitchFamily="34" charset="-128"/>
                <a:ea typeface="Meiryo" panose="020B0604030504040204" pitchFamily="34" charset="-128"/>
              </a:rPr>
              <a:t>機能</a:t>
            </a:r>
            <a:r>
              <a:rPr lang="en-US" altLang="ja-JP" sz="1000" dirty="0">
                <a:latin typeface="Meiryo" panose="020B0604030504040204" pitchFamily="34" charset="-128"/>
                <a:ea typeface="Meiryo" panose="020B0604030504040204" pitchFamily="34" charset="-128"/>
              </a:rPr>
              <a:t> or KPI Navigator</a:t>
            </a:r>
            <a:r>
              <a:rPr lang="ja-JP" altLang="en-US" sz="1000">
                <a:latin typeface="Meiryo" panose="020B0604030504040204" pitchFamily="34" charset="-128"/>
                <a:ea typeface="Meiryo" panose="020B0604030504040204" pitchFamily="34" charset="-128"/>
              </a:rPr>
              <a:t>を</a:t>
            </a:r>
            <a:r>
              <a:rPr lang="en-US" altLang="ja-JP" sz="1000" dirty="0">
                <a:latin typeface="Meiryo" panose="020B0604030504040204" pitchFamily="34" charset="-128"/>
                <a:ea typeface="Meiryo" panose="020B0604030504040204" pitchFamily="34" charset="-128"/>
              </a:rPr>
              <a:t>API</a:t>
            </a:r>
            <a:r>
              <a:rPr lang="ja-JP" altLang="en-US" sz="1000">
                <a:latin typeface="Meiryo" panose="020B0604030504040204" pitchFamily="34" charset="-128"/>
                <a:ea typeface="Meiryo" panose="020B0604030504040204" pitchFamily="34" charset="-128"/>
              </a:rPr>
              <a:t>化</a:t>
            </a:r>
            <a:r>
              <a:rPr lang="en-US" altLang="ja-JP" sz="1000" dirty="0">
                <a:latin typeface="Meiryo" panose="020B0604030504040204" pitchFamily="34" charset="-128"/>
                <a:ea typeface="Meiryo" panose="020B0604030504040204" pitchFamily="34" charset="-128"/>
              </a:rPr>
              <a:t>Table Check</a:t>
            </a:r>
            <a:r>
              <a:rPr lang="ja-JP" altLang="en-US" sz="1000">
                <a:latin typeface="Meiryo" panose="020B0604030504040204" pitchFamily="34" charset="-128"/>
                <a:ea typeface="Meiryo" panose="020B0604030504040204" pitchFamily="34" charset="-128"/>
              </a:rPr>
              <a:t>ユーザーに訴求できる？</a:t>
            </a:r>
            <a:endParaRPr lang="en-US" altLang="ja-JP" sz="1000" dirty="0">
              <a:latin typeface="Meiryo" panose="020B0604030504040204" pitchFamily="34" charset="-128"/>
              <a:ea typeface="Meiryo" panose="020B0604030504040204" pitchFamily="34" charset="-128"/>
            </a:endParaRPr>
          </a:p>
          <a:p>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＊追記必須項目随時更新</a:t>
            </a:r>
            <a:endParaRPr lang="en-US" altLang="ja-JP" sz="1000" dirty="0">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853822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E99DE16-AD02-4A09-A39B-B73330EFA7CD}"/>
              </a:ext>
            </a:extLst>
          </p:cNvPr>
          <p:cNvSpPr txBox="1"/>
          <p:nvPr/>
        </p:nvSpPr>
        <p:spPr>
          <a:xfrm>
            <a:off x="1934715" y="128419"/>
            <a:ext cx="2986651" cy="369332"/>
          </a:xfrm>
          <a:prstGeom prst="rect">
            <a:avLst/>
          </a:prstGeom>
          <a:noFill/>
        </p:spPr>
        <p:txBody>
          <a:bodyPr wrap="none" rtlCol="0">
            <a:spAutoFit/>
          </a:bodyPr>
          <a:lstStyle/>
          <a:p>
            <a:r>
              <a:rPr kumimoji="1" lang="en-US" altLang="ja-JP" dirty="0">
                <a:latin typeface="Meiryo" panose="020B0604030504040204" pitchFamily="34" charset="-128"/>
                <a:ea typeface="Meiryo" panose="020B0604030504040204" pitchFamily="34" charset="-128"/>
              </a:rPr>
              <a:t>KPI-Navigator </a:t>
            </a:r>
            <a:r>
              <a:rPr kumimoji="1" lang="ja-JP" altLang="en-US">
                <a:latin typeface="Meiryo" panose="020B0604030504040204" pitchFamily="34" charset="-128"/>
                <a:ea typeface="Meiryo" panose="020B0604030504040204" pitchFamily="34" charset="-128"/>
              </a:rPr>
              <a:t>各機能詳細</a:t>
            </a:r>
          </a:p>
        </p:txBody>
      </p:sp>
      <p:pic>
        <p:nvPicPr>
          <p:cNvPr id="6" name="図 5" descr="Teams が含まれている画像&#10;&#10;AI 生成コンテンツは誤りを含む可能性があります。">
            <a:extLst>
              <a:ext uri="{FF2B5EF4-FFF2-40B4-BE49-F238E27FC236}">
                <a16:creationId xmlns:a16="http://schemas.microsoft.com/office/drawing/2014/main" id="{77A9A24D-6359-84E4-77CE-300E551AAB3D}"/>
              </a:ext>
            </a:extLst>
          </p:cNvPr>
          <p:cNvPicPr>
            <a:picLocks noChangeAspect="1"/>
          </p:cNvPicPr>
          <p:nvPr/>
        </p:nvPicPr>
        <p:blipFill>
          <a:blip r:embed="rId2"/>
          <a:stretch>
            <a:fillRect/>
          </a:stretch>
        </p:blipFill>
        <p:spPr>
          <a:xfrm>
            <a:off x="3936404" y="1029455"/>
            <a:ext cx="2755819" cy="953534"/>
          </a:xfrm>
          <a:prstGeom prst="rect">
            <a:avLst/>
          </a:prstGeom>
        </p:spPr>
      </p:pic>
      <p:sp>
        <p:nvSpPr>
          <p:cNvPr id="7" name="テキスト ボックス 6">
            <a:extLst>
              <a:ext uri="{FF2B5EF4-FFF2-40B4-BE49-F238E27FC236}">
                <a16:creationId xmlns:a16="http://schemas.microsoft.com/office/drawing/2014/main" id="{2C971CCE-A4F1-A90B-AEA2-BBA346CBB432}"/>
              </a:ext>
            </a:extLst>
          </p:cNvPr>
          <p:cNvSpPr txBox="1"/>
          <p:nvPr/>
        </p:nvSpPr>
        <p:spPr>
          <a:xfrm>
            <a:off x="2505794" y="567258"/>
            <a:ext cx="2020618" cy="276999"/>
          </a:xfrm>
          <a:prstGeom prst="rect">
            <a:avLst/>
          </a:prstGeom>
          <a:noFill/>
        </p:spPr>
        <p:txBody>
          <a:bodyPr wrap="none" rtlCol="0">
            <a:spAutoFit/>
          </a:bodyPr>
          <a:lstStyle/>
          <a:p>
            <a:r>
              <a:rPr lang="en-US" altLang="ja-JP" sz="1200" dirty="0">
                <a:latin typeface="Meiryo" panose="020B0604030504040204" pitchFamily="34" charset="-128"/>
                <a:ea typeface="Meiryo" panose="020B0604030504040204" pitchFamily="34" charset="-128"/>
              </a:rPr>
              <a:t>①</a:t>
            </a:r>
            <a:r>
              <a:rPr lang="en" altLang="ja-JP" sz="1200" dirty="0">
                <a:latin typeface="Meiryo" panose="020B0604030504040204" pitchFamily="34" charset="-128"/>
                <a:ea typeface="Meiryo" panose="020B0604030504040204" pitchFamily="34" charset="-128"/>
              </a:rPr>
              <a:t>【calendar-and-date】</a:t>
            </a:r>
          </a:p>
        </p:txBody>
      </p:sp>
      <p:sp>
        <p:nvSpPr>
          <p:cNvPr id="8" name="テキスト ボックス 7">
            <a:extLst>
              <a:ext uri="{FF2B5EF4-FFF2-40B4-BE49-F238E27FC236}">
                <a16:creationId xmlns:a16="http://schemas.microsoft.com/office/drawing/2014/main" id="{D07F48CE-E520-4D8B-6850-AE85D89D8E79}"/>
              </a:ext>
            </a:extLst>
          </p:cNvPr>
          <p:cNvSpPr txBox="1"/>
          <p:nvPr/>
        </p:nvSpPr>
        <p:spPr>
          <a:xfrm>
            <a:off x="248408" y="1191874"/>
            <a:ext cx="2365006" cy="276999"/>
          </a:xfrm>
          <a:prstGeom prst="rect">
            <a:avLst/>
          </a:prstGeom>
          <a:noFill/>
        </p:spPr>
        <p:txBody>
          <a:bodyPr wrap="none" rtlCol="0">
            <a:spAutoFit/>
          </a:bodyPr>
          <a:lstStyle/>
          <a:p>
            <a:r>
              <a:rPr lang="en" altLang="ja-JP" sz="1200" dirty="0">
                <a:latin typeface="Meiryo" panose="020B0604030504040204" pitchFamily="34" charset="-128"/>
                <a:ea typeface="Meiryo" panose="020B0604030504040204" pitchFamily="34" charset="-128"/>
              </a:rPr>
              <a:t>1. Calendar-cul1 : </a:t>
            </a:r>
            <a:r>
              <a:rPr lang="ja-JP" altLang="en-US" sz="1200">
                <a:latin typeface="Meiryo" panose="020B0604030504040204" pitchFamily="34" charset="-128"/>
                <a:ea typeface="Meiryo" panose="020B0604030504040204" pitchFamily="34" charset="-128"/>
              </a:rPr>
              <a:t>年月日設定</a:t>
            </a:r>
            <a:endParaRPr lang="en-US" altLang="ja-JP" sz="1200" dirty="0">
              <a:latin typeface="Meiryo" panose="020B0604030504040204" pitchFamily="34" charset="-128"/>
              <a:ea typeface="Meiryo" panose="020B0604030504040204" pitchFamily="34" charset="-128"/>
            </a:endParaRPr>
          </a:p>
        </p:txBody>
      </p:sp>
      <p:sp>
        <p:nvSpPr>
          <p:cNvPr id="9" name="テキスト ボックス 8">
            <a:extLst>
              <a:ext uri="{FF2B5EF4-FFF2-40B4-BE49-F238E27FC236}">
                <a16:creationId xmlns:a16="http://schemas.microsoft.com/office/drawing/2014/main" id="{7BEC3AC9-10A4-A1AA-008D-CCED28E370C7}"/>
              </a:ext>
            </a:extLst>
          </p:cNvPr>
          <p:cNvSpPr txBox="1"/>
          <p:nvPr/>
        </p:nvSpPr>
        <p:spPr>
          <a:xfrm>
            <a:off x="248408" y="2380454"/>
            <a:ext cx="3887859" cy="276999"/>
          </a:xfrm>
          <a:prstGeom prst="rect">
            <a:avLst/>
          </a:prstGeom>
          <a:noFill/>
        </p:spPr>
        <p:txBody>
          <a:bodyPr wrap="none" rtlCol="0">
            <a:spAutoFit/>
          </a:bodyPr>
          <a:lstStyle/>
          <a:p>
            <a:r>
              <a:rPr lang="en-US" altLang="ja-JP" sz="1200" dirty="0">
                <a:latin typeface="Meiryo" panose="020B0604030504040204" pitchFamily="34" charset="-128"/>
                <a:ea typeface="Meiryo" panose="020B0604030504040204" pitchFamily="34" charset="-128"/>
              </a:rPr>
              <a:t>2. Calendar-cul2</a:t>
            </a:r>
            <a:r>
              <a:rPr lang="ja-JP" altLang="en-US" sz="1200">
                <a:latin typeface="Meiryo" panose="020B0604030504040204" pitchFamily="34" charset="-128"/>
                <a:ea typeface="Meiryo" panose="020B0604030504040204" pitchFamily="34" charset="-128"/>
              </a:rPr>
              <a:t>：本日</a:t>
            </a:r>
            <a:r>
              <a:rPr lang="en-US" altLang="ja-JP" sz="1200" dirty="0">
                <a:latin typeface="Meiryo" panose="020B0604030504040204" pitchFamily="34" charset="-128"/>
                <a:ea typeface="Meiryo" panose="020B0604030504040204" pitchFamily="34" charset="-128"/>
              </a:rPr>
              <a:t>or</a:t>
            </a:r>
            <a:r>
              <a:rPr lang="ja-JP" altLang="en-US" sz="1200">
                <a:latin typeface="Meiryo" panose="020B0604030504040204" pitchFamily="34" charset="-128"/>
                <a:ea typeface="Meiryo" panose="020B0604030504040204" pitchFamily="34" charset="-128"/>
              </a:rPr>
              <a:t>任意日付の日次データ表示</a:t>
            </a:r>
            <a:endParaRPr lang="en-US" altLang="ja-JP" sz="1200" dirty="0">
              <a:latin typeface="Meiryo" panose="020B0604030504040204" pitchFamily="34" charset="-128"/>
              <a:ea typeface="Meiryo" panose="020B0604030504040204" pitchFamily="34" charset="-128"/>
            </a:endParaRPr>
          </a:p>
        </p:txBody>
      </p:sp>
      <p:sp>
        <p:nvSpPr>
          <p:cNvPr id="10" name="テキスト ボックス 9">
            <a:extLst>
              <a:ext uri="{FF2B5EF4-FFF2-40B4-BE49-F238E27FC236}">
                <a16:creationId xmlns:a16="http://schemas.microsoft.com/office/drawing/2014/main" id="{30D8DC4A-ED7E-CDDF-5E3B-C152A6749E17}"/>
              </a:ext>
            </a:extLst>
          </p:cNvPr>
          <p:cNvSpPr txBox="1"/>
          <p:nvPr/>
        </p:nvSpPr>
        <p:spPr>
          <a:xfrm>
            <a:off x="248408" y="3421450"/>
            <a:ext cx="6533840" cy="276999"/>
          </a:xfrm>
          <a:prstGeom prst="rect">
            <a:avLst/>
          </a:prstGeom>
          <a:noFill/>
        </p:spPr>
        <p:txBody>
          <a:bodyPr wrap="none" rtlCol="0">
            <a:spAutoFit/>
          </a:bodyPr>
          <a:lstStyle/>
          <a:p>
            <a:r>
              <a:rPr lang="en-US" altLang="ja-JP" sz="1200" dirty="0">
                <a:latin typeface="Meiryo" panose="020B0604030504040204" pitchFamily="34" charset="-128"/>
                <a:ea typeface="Meiryo" panose="020B0604030504040204" pitchFamily="34" charset="-128"/>
              </a:rPr>
              <a:t>3. Calendar-cul3</a:t>
            </a:r>
            <a:r>
              <a:rPr lang="ja-JP" altLang="en-US" sz="1200">
                <a:latin typeface="Meiryo" panose="020B0604030504040204" pitchFamily="34" charset="-128"/>
                <a:ea typeface="Meiryo" panose="020B0604030504040204" pitchFamily="34" charset="-128"/>
              </a:rPr>
              <a:t>：本日</a:t>
            </a:r>
            <a:r>
              <a:rPr lang="en-US" altLang="ja-JP" sz="1200" dirty="0">
                <a:latin typeface="Meiryo" panose="020B0604030504040204" pitchFamily="34" charset="-128"/>
                <a:ea typeface="Meiryo" panose="020B0604030504040204" pitchFamily="34" charset="-128"/>
              </a:rPr>
              <a:t>or</a:t>
            </a:r>
            <a:r>
              <a:rPr lang="ja-JP" altLang="en-US" sz="1200">
                <a:latin typeface="Meiryo" panose="020B0604030504040204" pitchFamily="34" charset="-128"/>
                <a:ea typeface="Meiryo" panose="020B0604030504040204" pitchFamily="34" charset="-128"/>
              </a:rPr>
              <a:t>任意日付の月次・年次データ表示</a:t>
            </a:r>
            <a:r>
              <a:rPr lang="en-US" altLang="ja-JP" sz="1200" dirty="0">
                <a:latin typeface="Meiryo" panose="020B0604030504040204" pitchFamily="34" charset="-128"/>
                <a:ea typeface="Meiryo" panose="020B0604030504040204" pitchFamily="34" charset="-128"/>
              </a:rPr>
              <a:t> &amp; KPI-Container</a:t>
            </a:r>
            <a:r>
              <a:rPr lang="ja-JP" altLang="en-US" sz="1200">
                <a:latin typeface="Meiryo" panose="020B0604030504040204" pitchFamily="34" charset="-128"/>
                <a:ea typeface="Meiryo" panose="020B0604030504040204" pitchFamily="34" charset="-128"/>
              </a:rPr>
              <a:t>の拡張・縮小</a:t>
            </a:r>
            <a:endParaRPr lang="en" altLang="ja-JP" sz="1200" dirty="0">
              <a:latin typeface="Meiryo" panose="020B0604030504040204" pitchFamily="34" charset="-128"/>
              <a:ea typeface="Meiryo" panose="020B0604030504040204" pitchFamily="34" charset="-128"/>
            </a:endParaRPr>
          </a:p>
        </p:txBody>
      </p:sp>
      <p:sp>
        <p:nvSpPr>
          <p:cNvPr id="11" name="テキスト ボックス 10">
            <a:extLst>
              <a:ext uri="{FF2B5EF4-FFF2-40B4-BE49-F238E27FC236}">
                <a16:creationId xmlns:a16="http://schemas.microsoft.com/office/drawing/2014/main" id="{F02E869A-5C85-3256-6E6D-EAC0DD301074}"/>
              </a:ext>
            </a:extLst>
          </p:cNvPr>
          <p:cNvSpPr txBox="1"/>
          <p:nvPr/>
        </p:nvSpPr>
        <p:spPr>
          <a:xfrm>
            <a:off x="669484" y="1473443"/>
            <a:ext cx="5545108" cy="707886"/>
          </a:xfrm>
          <a:prstGeom prst="rect">
            <a:avLst/>
          </a:prstGeom>
          <a:noFill/>
        </p:spPr>
        <p:txBody>
          <a:bodyPr wrap="none" rtlCol="0">
            <a:spAutoFit/>
          </a:bodyPr>
          <a:lstStyle/>
          <a:p>
            <a:r>
              <a:rPr lang="en-US" altLang="ja-JP" sz="1000" dirty="0">
                <a:latin typeface="Meiryo" panose="020B0604030504040204" pitchFamily="34" charset="-128"/>
                <a:ea typeface="Meiryo" panose="020B0604030504040204" pitchFamily="34" charset="-128"/>
              </a:rPr>
              <a:t>1. </a:t>
            </a:r>
            <a:r>
              <a:rPr lang="ja-JP" altLang="en-US" sz="1000">
                <a:latin typeface="Meiryo" panose="020B0604030504040204" pitchFamily="34" charset="-128"/>
                <a:ea typeface="Meiryo" panose="020B0604030504040204" pitchFamily="34" charset="-128"/>
              </a:rPr>
              <a:t>デフォルト今日の日付を表示</a:t>
            </a:r>
          </a:p>
          <a:p>
            <a:r>
              <a:rPr lang="en-US" altLang="ja-JP" sz="1000" dirty="0">
                <a:latin typeface="Meiryo" panose="020B0604030504040204" pitchFamily="34" charset="-128"/>
                <a:ea typeface="Meiryo" panose="020B0604030504040204" pitchFamily="34" charset="-128"/>
              </a:rPr>
              <a:t>2. </a:t>
            </a:r>
            <a:r>
              <a:rPr lang="ja-JP" altLang="en-US" sz="1000">
                <a:latin typeface="Meiryo" panose="020B0604030504040204" pitchFamily="34" charset="-128"/>
                <a:ea typeface="Meiryo" panose="020B0604030504040204" pitchFamily="34" charset="-128"/>
              </a:rPr>
              <a:t>▲▼ボタンで全日翌日にアクセス</a:t>
            </a:r>
          </a:p>
          <a:p>
            <a:r>
              <a:rPr lang="en-US" altLang="ja-JP" sz="1000" dirty="0">
                <a:latin typeface="Meiryo" panose="020B0604030504040204" pitchFamily="34" charset="-128"/>
                <a:ea typeface="Meiryo" panose="020B0604030504040204" pitchFamily="34" charset="-128"/>
              </a:rPr>
              <a:t>3. </a:t>
            </a:r>
            <a:r>
              <a:rPr lang="ja-JP" altLang="en-US" sz="1000">
                <a:latin typeface="Meiryo" panose="020B0604030504040204" pitchFamily="34" charset="-128"/>
                <a:ea typeface="Meiryo" panose="020B0604030504040204" pitchFamily="34" charset="-128"/>
              </a:rPr>
              <a:t>年月日ボックスはドロップダウンで任意の日付にアクセス</a:t>
            </a:r>
          </a:p>
          <a:p>
            <a:r>
              <a:rPr lang="en-US" altLang="ja-JP" sz="1000" dirty="0">
                <a:latin typeface="Meiryo" panose="020B0604030504040204" pitchFamily="34" charset="-128"/>
                <a:ea typeface="Meiryo" panose="020B0604030504040204" pitchFamily="34" charset="-128"/>
              </a:rPr>
              <a:t>4. </a:t>
            </a:r>
            <a:r>
              <a:rPr lang="ja-JP" altLang="en-US" sz="1000">
                <a:latin typeface="Meiryo" panose="020B0604030504040204" pitchFamily="34" charset="-128"/>
                <a:ea typeface="Meiryo" panose="020B0604030504040204" pitchFamily="34" charset="-128"/>
              </a:rPr>
              <a:t>選択した日付は</a:t>
            </a:r>
            <a:r>
              <a:rPr lang="en" altLang="ja-JP" sz="1000" dirty="0">
                <a:latin typeface="Meiryo" panose="020B0604030504040204" pitchFamily="34" charset="-128"/>
                <a:ea typeface="Meiryo" panose="020B0604030504040204" pitchFamily="34" charset="-128"/>
              </a:rPr>
              <a:t>cul2</a:t>
            </a:r>
            <a:r>
              <a:rPr lang="ja-JP" altLang="en" sz="1000">
                <a:latin typeface="Meiryo" panose="020B0604030504040204" pitchFamily="34" charset="-128"/>
                <a:ea typeface="Meiryo" panose="020B0604030504040204" pitchFamily="34" charset="-128"/>
              </a:rPr>
              <a:t>、</a:t>
            </a:r>
            <a:r>
              <a:rPr lang="en" altLang="ja-JP" sz="1000" dirty="0">
                <a:latin typeface="Meiryo" panose="020B0604030504040204" pitchFamily="34" charset="-128"/>
                <a:ea typeface="Meiryo" panose="020B0604030504040204" pitchFamily="34" charset="-128"/>
              </a:rPr>
              <a:t>cul3</a:t>
            </a:r>
            <a:r>
              <a:rPr lang="ja-JP" altLang="en" sz="1000">
                <a:latin typeface="Meiryo" panose="020B0604030504040204" pitchFamily="34" charset="-128"/>
                <a:ea typeface="Meiryo" panose="020B0604030504040204" pitchFamily="34" charset="-128"/>
              </a:rPr>
              <a:t>、</a:t>
            </a:r>
            <a:r>
              <a:rPr lang="en" altLang="ja-JP" sz="1000" dirty="0" err="1">
                <a:latin typeface="Meiryo" panose="020B0604030504040204" pitchFamily="34" charset="-128"/>
                <a:ea typeface="Meiryo" panose="020B0604030504040204" pitchFamily="34" charset="-128"/>
              </a:rPr>
              <a:t>Kpi</a:t>
            </a:r>
            <a:r>
              <a:rPr lang="en" altLang="ja-JP" sz="1000" dirty="0">
                <a:latin typeface="Meiryo" panose="020B0604030504040204" pitchFamily="34" charset="-128"/>
                <a:ea typeface="Meiryo" panose="020B0604030504040204" pitchFamily="34" charset="-128"/>
              </a:rPr>
              <a:t>-container</a:t>
            </a:r>
            <a:r>
              <a:rPr lang="ja-JP" altLang="en-US" sz="1000">
                <a:latin typeface="Meiryo" panose="020B0604030504040204" pitchFamily="34" charset="-128"/>
                <a:ea typeface="Meiryo" panose="020B0604030504040204" pitchFamily="34" charset="-128"/>
              </a:rPr>
              <a:t>にここで選択した日付のデータを表示するため</a:t>
            </a:r>
          </a:p>
        </p:txBody>
      </p:sp>
      <p:pic>
        <p:nvPicPr>
          <p:cNvPr id="13" name="図 12" descr="テーブル&#10;&#10;AI 生成コンテンツは誤りを含む可能性があります。">
            <a:extLst>
              <a:ext uri="{FF2B5EF4-FFF2-40B4-BE49-F238E27FC236}">
                <a16:creationId xmlns:a16="http://schemas.microsoft.com/office/drawing/2014/main" id="{50EB11E9-5D93-3D81-6929-438EA464D274}"/>
              </a:ext>
            </a:extLst>
          </p:cNvPr>
          <p:cNvPicPr>
            <a:picLocks noChangeAspect="1"/>
          </p:cNvPicPr>
          <p:nvPr/>
        </p:nvPicPr>
        <p:blipFill>
          <a:blip r:embed="rId3"/>
          <a:srcRect t="4980"/>
          <a:stretch>
            <a:fillRect/>
          </a:stretch>
        </p:blipFill>
        <p:spPr>
          <a:xfrm>
            <a:off x="4548554" y="2359817"/>
            <a:ext cx="1957753" cy="713261"/>
          </a:xfrm>
          <a:prstGeom prst="rect">
            <a:avLst/>
          </a:prstGeom>
        </p:spPr>
      </p:pic>
      <p:sp>
        <p:nvSpPr>
          <p:cNvPr id="14" name="テキスト ボックス 13">
            <a:extLst>
              <a:ext uri="{FF2B5EF4-FFF2-40B4-BE49-F238E27FC236}">
                <a16:creationId xmlns:a16="http://schemas.microsoft.com/office/drawing/2014/main" id="{479792A8-2A7A-0C3D-674A-C8B2AA1B6B2C}"/>
              </a:ext>
            </a:extLst>
          </p:cNvPr>
          <p:cNvSpPr txBox="1"/>
          <p:nvPr/>
        </p:nvSpPr>
        <p:spPr>
          <a:xfrm>
            <a:off x="669484" y="2846689"/>
            <a:ext cx="3991798" cy="400110"/>
          </a:xfrm>
          <a:prstGeom prst="rect">
            <a:avLst/>
          </a:prstGeom>
          <a:noFill/>
        </p:spPr>
        <p:txBody>
          <a:bodyPr wrap="none" rtlCol="0">
            <a:spAutoFit/>
          </a:bodyPr>
          <a:lstStyle/>
          <a:p>
            <a:r>
              <a:rPr lang="en-US" altLang="ja-JP" sz="1000" dirty="0">
                <a:latin typeface="Meiryo" panose="020B0604030504040204" pitchFamily="34" charset="-128"/>
                <a:ea typeface="Meiryo" panose="020B0604030504040204" pitchFamily="34" charset="-128"/>
              </a:rPr>
              <a:t>cul1</a:t>
            </a:r>
            <a:r>
              <a:rPr lang="ja-JP" altLang="en-US" sz="1000">
                <a:latin typeface="Meiryo" panose="020B0604030504040204" pitchFamily="34" charset="-128"/>
                <a:ea typeface="Meiryo" panose="020B0604030504040204" pitchFamily="34" charset="-128"/>
              </a:rPr>
              <a:t>で表記した日程</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今日</a:t>
            </a:r>
            <a:r>
              <a:rPr lang="en-US" altLang="ja-JP" sz="1000" dirty="0">
                <a:latin typeface="Meiryo" panose="020B0604030504040204" pitchFamily="34" charset="-128"/>
                <a:ea typeface="Meiryo" panose="020B0604030504040204" pitchFamily="34" charset="-128"/>
              </a:rPr>
              <a:t> or </a:t>
            </a:r>
            <a:r>
              <a:rPr lang="ja-JP" altLang="en-US" sz="1000">
                <a:latin typeface="Meiryo" panose="020B0604030504040204" pitchFamily="34" charset="-128"/>
                <a:ea typeface="Meiryo" panose="020B0604030504040204" pitchFamily="34" charset="-128"/>
              </a:rPr>
              <a:t>任意の日付</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の日次データ表記</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目標売上、予測売上</a:t>
            </a:r>
            <a:r>
              <a:rPr lang="en-US" altLang="ja-JP" sz="1000" dirty="0">
                <a:latin typeface="Meiryo" panose="020B0604030504040204" pitchFamily="34" charset="-128"/>
                <a:ea typeface="Meiryo" panose="020B0604030504040204" pitchFamily="34" charset="-128"/>
              </a:rPr>
              <a:t> or </a:t>
            </a:r>
            <a:r>
              <a:rPr lang="ja-JP" altLang="en-US" sz="1000">
                <a:latin typeface="Meiryo" panose="020B0604030504040204" pitchFamily="34" charset="-128"/>
                <a:ea typeface="Meiryo" panose="020B0604030504040204" pitchFamily="34" charset="-128"/>
              </a:rPr>
              <a:t>実績売上額、差異、アクション提案を表記</a:t>
            </a:r>
          </a:p>
        </p:txBody>
      </p:sp>
      <p:pic>
        <p:nvPicPr>
          <p:cNvPr id="16" name="図 15" descr="テーブル が含まれている画像&#10;&#10;AI 生成コンテンツは誤りを含む可能性があります。">
            <a:extLst>
              <a:ext uri="{FF2B5EF4-FFF2-40B4-BE49-F238E27FC236}">
                <a16:creationId xmlns:a16="http://schemas.microsoft.com/office/drawing/2014/main" id="{9EDA31DB-9C6C-54E3-50C7-2903EDD3C210}"/>
              </a:ext>
            </a:extLst>
          </p:cNvPr>
          <p:cNvPicPr>
            <a:picLocks noChangeAspect="1"/>
          </p:cNvPicPr>
          <p:nvPr/>
        </p:nvPicPr>
        <p:blipFill>
          <a:blip r:embed="rId4"/>
          <a:stretch>
            <a:fillRect/>
          </a:stretch>
        </p:blipFill>
        <p:spPr>
          <a:xfrm>
            <a:off x="4548554" y="3837075"/>
            <a:ext cx="1975339" cy="833629"/>
          </a:xfrm>
          <a:prstGeom prst="rect">
            <a:avLst/>
          </a:prstGeom>
        </p:spPr>
      </p:pic>
      <p:sp>
        <p:nvSpPr>
          <p:cNvPr id="17" name="テキスト ボックス 16">
            <a:extLst>
              <a:ext uri="{FF2B5EF4-FFF2-40B4-BE49-F238E27FC236}">
                <a16:creationId xmlns:a16="http://schemas.microsoft.com/office/drawing/2014/main" id="{39DFD536-9895-BCAF-03B5-20714F5B5B6E}"/>
              </a:ext>
            </a:extLst>
          </p:cNvPr>
          <p:cNvSpPr txBox="1"/>
          <p:nvPr/>
        </p:nvSpPr>
        <p:spPr>
          <a:xfrm>
            <a:off x="661864" y="3758800"/>
            <a:ext cx="4560864" cy="2092881"/>
          </a:xfrm>
          <a:prstGeom prst="rect">
            <a:avLst/>
          </a:prstGeom>
          <a:noFill/>
        </p:spPr>
        <p:txBody>
          <a:bodyPr wrap="none" rtlCol="0">
            <a:spAutoFit/>
          </a:bodyPr>
          <a:lstStyle/>
          <a:p>
            <a:r>
              <a:rPr lang="en-US" altLang="ja-JP" sz="1000" dirty="0">
                <a:latin typeface="Meiryo" panose="020B0604030504040204" pitchFamily="34" charset="-128"/>
                <a:ea typeface="Meiryo" panose="020B0604030504040204" pitchFamily="34" charset="-128"/>
              </a:rPr>
              <a:t>cul1</a:t>
            </a:r>
            <a:r>
              <a:rPr lang="ja-JP" altLang="en-US" sz="1000">
                <a:latin typeface="Meiryo" panose="020B0604030504040204" pitchFamily="34" charset="-128"/>
                <a:ea typeface="Meiryo" panose="020B0604030504040204" pitchFamily="34" charset="-128"/>
              </a:rPr>
              <a:t>で表記した日程</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今日</a:t>
            </a:r>
            <a:r>
              <a:rPr lang="en-US" altLang="ja-JP" sz="1000" dirty="0">
                <a:latin typeface="Meiryo" panose="020B0604030504040204" pitchFamily="34" charset="-128"/>
                <a:ea typeface="Meiryo" panose="020B0604030504040204" pitchFamily="34" charset="-128"/>
              </a:rPr>
              <a:t> or </a:t>
            </a:r>
            <a:r>
              <a:rPr lang="ja-JP" altLang="en-US" sz="1000">
                <a:latin typeface="Meiryo" panose="020B0604030504040204" pitchFamily="34" charset="-128"/>
                <a:ea typeface="Meiryo" panose="020B0604030504040204" pitchFamily="34" charset="-128"/>
              </a:rPr>
              <a:t>任意の日付</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の月次・年次データ表記</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月次</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ja-JP" altLang="en-US" sz="1000">
                <a:latin typeface="Meiryo" panose="020B0604030504040204" pitchFamily="34" charset="-128"/>
                <a:ea typeface="Meiryo" panose="020B0604030504040204" pitchFamily="34" charset="-128"/>
              </a:rPr>
              <a:t>月次目標売上</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月次実績売上</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月次差額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月次達成率</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年次</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ja-JP" altLang="en-US" sz="1000">
                <a:latin typeface="Meiryo" panose="020B0604030504040204" pitchFamily="34" charset="-128"/>
                <a:ea typeface="Meiryo" panose="020B0604030504040204" pitchFamily="34" charset="-128"/>
              </a:rPr>
              <a:t>年次目標売上</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年次実績売上</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年次差額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年次達成率</a:t>
            </a:r>
            <a:endParaRPr lang="en-US" altLang="ja-JP" sz="1000" dirty="0">
              <a:latin typeface="Meiryo" panose="020B0604030504040204" pitchFamily="34" charset="-128"/>
              <a:ea typeface="Meiryo" panose="020B0604030504040204" pitchFamily="34" charset="-128"/>
            </a:endParaRPr>
          </a:p>
          <a:p>
            <a:pPr marL="228600" indent="-228600">
              <a:buAutoNum type="arabicPeriod"/>
            </a:pP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追加表示ボタン：</a:t>
            </a:r>
            <a:r>
              <a:rPr lang="en-US" altLang="ja-JP" sz="1000" dirty="0">
                <a:latin typeface="Meiryo" panose="020B0604030504040204" pitchFamily="34" charset="-128"/>
                <a:ea typeface="Meiryo" panose="020B0604030504040204" pitchFamily="34" charset="-128"/>
              </a:rPr>
              <a:t>KPI Container</a:t>
            </a:r>
            <a:r>
              <a:rPr lang="ja-JP" altLang="en-US" sz="1000">
                <a:latin typeface="Meiryo" panose="020B0604030504040204" pitchFamily="34" charset="-128"/>
                <a:ea typeface="Meiryo" panose="020B0604030504040204" pitchFamily="34" charset="-128"/>
              </a:rPr>
              <a:t>の拡張表示・縮小表示ボタン</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月次・年次</a:t>
            </a:r>
            <a:r>
              <a:rPr lang="en-US" altLang="ja-JP" sz="1000" dirty="0">
                <a:latin typeface="Meiryo" panose="020B0604030504040204" pitchFamily="34" charset="-128"/>
                <a:ea typeface="Meiryo" panose="020B0604030504040204" pitchFamily="34" charset="-128"/>
              </a:rPr>
              <a:t>)</a:t>
            </a:r>
          </a:p>
        </p:txBody>
      </p:sp>
      <p:grpSp>
        <p:nvGrpSpPr>
          <p:cNvPr id="26" name="グループ化 25">
            <a:extLst>
              <a:ext uri="{FF2B5EF4-FFF2-40B4-BE49-F238E27FC236}">
                <a16:creationId xmlns:a16="http://schemas.microsoft.com/office/drawing/2014/main" id="{3E52AD21-F450-4759-8454-9E7993FBE09C}"/>
              </a:ext>
            </a:extLst>
          </p:cNvPr>
          <p:cNvGrpSpPr/>
          <p:nvPr/>
        </p:nvGrpSpPr>
        <p:grpSpPr>
          <a:xfrm>
            <a:off x="162870" y="7109640"/>
            <a:ext cx="6529353" cy="2767823"/>
            <a:chOff x="173030" y="6030745"/>
            <a:chExt cx="6529353" cy="2767823"/>
          </a:xfrm>
        </p:grpSpPr>
        <p:sp>
          <p:nvSpPr>
            <p:cNvPr id="21" name="正方形/長方形 20">
              <a:extLst>
                <a:ext uri="{FF2B5EF4-FFF2-40B4-BE49-F238E27FC236}">
                  <a16:creationId xmlns:a16="http://schemas.microsoft.com/office/drawing/2014/main" id="{CAFF0C37-CC45-8AEA-BC02-216DB0F86BE2}"/>
                </a:ext>
              </a:extLst>
            </p:cNvPr>
            <p:cNvSpPr/>
            <p:nvPr/>
          </p:nvSpPr>
          <p:spPr>
            <a:xfrm>
              <a:off x="1853023" y="6606866"/>
              <a:ext cx="1677409" cy="2191702"/>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B6DDE0E3-2EE8-41B4-94D7-B67DC066C17B}"/>
                </a:ext>
              </a:extLst>
            </p:cNvPr>
            <p:cNvSpPr/>
            <p:nvPr/>
          </p:nvSpPr>
          <p:spPr>
            <a:xfrm>
              <a:off x="3573830" y="6606866"/>
              <a:ext cx="3118393" cy="2191702"/>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5" name="グループ化 24">
              <a:extLst>
                <a:ext uri="{FF2B5EF4-FFF2-40B4-BE49-F238E27FC236}">
                  <a16:creationId xmlns:a16="http://schemas.microsoft.com/office/drawing/2014/main" id="{CF22F6C2-4CD2-1D83-DCBD-63E8D8BF0B95}"/>
                </a:ext>
              </a:extLst>
            </p:cNvPr>
            <p:cNvGrpSpPr/>
            <p:nvPr/>
          </p:nvGrpSpPr>
          <p:grpSpPr>
            <a:xfrm>
              <a:off x="173030" y="6030745"/>
              <a:ext cx="6529353" cy="2767823"/>
              <a:chOff x="173030" y="6030745"/>
              <a:chExt cx="6529353" cy="2767823"/>
            </a:xfrm>
          </p:grpSpPr>
          <p:pic>
            <p:nvPicPr>
              <p:cNvPr id="19" name="図 18" descr="テーブル, カレンダー&#10;&#10;AI 生成コンテンツは誤りを含む可能性があります。">
                <a:extLst>
                  <a:ext uri="{FF2B5EF4-FFF2-40B4-BE49-F238E27FC236}">
                    <a16:creationId xmlns:a16="http://schemas.microsoft.com/office/drawing/2014/main" id="{E4329AB1-3F2B-7747-787B-F08A6DDE2A67}"/>
                  </a:ext>
                </a:extLst>
              </p:cNvPr>
              <p:cNvPicPr>
                <a:picLocks noChangeAspect="1"/>
              </p:cNvPicPr>
              <p:nvPr/>
            </p:nvPicPr>
            <p:blipFill>
              <a:blip r:embed="rId5"/>
              <a:stretch>
                <a:fillRect/>
              </a:stretch>
            </p:blipFill>
            <p:spPr>
              <a:xfrm>
                <a:off x="173030" y="6625949"/>
                <a:ext cx="6529353" cy="2172619"/>
              </a:xfrm>
              <a:prstGeom prst="rect">
                <a:avLst/>
              </a:prstGeom>
            </p:spPr>
          </p:pic>
          <p:sp>
            <p:nvSpPr>
              <p:cNvPr id="20" name="テキスト ボックス 19">
                <a:extLst>
                  <a:ext uri="{FF2B5EF4-FFF2-40B4-BE49-F238E27FC236}">
                    <a16:creationId xmlns:a16="http://schemas.microsoft.com/office/drawing/2014/main" id="{C7F6186F-9E8A-D11C-227D-D670257FB590}"/>
                  </a:ext>
                </a:extLst>
              </p:cNvPr>
              <p:cNvSpPr txBox="1"/>
              <p:nvPr/>
            </p:nvSpPr>
            <p:spPr>
              <a:xfrm>
                <a:off x="1677349" y="6030745"/>
                <a:ext cx="3524298" cy="276999"/>
              </a:xfrm>
              <a:prstGeom prst="rect">
                <a:avLst/>
              </a:prstGeom>
              <a:noFill/>
            </p:spPr>
            <p:txBody>
              <a:bodyPr wrap="none" rtlCol="0">
                <a:spAutoFit/>
              </a:bodyPr>
              <a:lstStyle/>
              <a:p>
                <a:r>
                  <a:rPr lang="ja-JP" altLang="en-US" sz="1200">
                    <a:latin typeface="Meiryo" panose="020B0604030504040204" pitchFamily="34" charset="-128"/>
                    <a:ea typeface="Meiryo" panose="020B0604030504040204" pitchFamily="34" charset="-128"/>
                  </a:rPr>
                  <a:t>エクセル表で構築した</a:t>
                </a:r>
                <a:r>
                  <a:rPr lang="en-US" altLang="ja-JP" sz="1200" dirty="0">
                    <a:latin typeface="Meiryo" panose="020B0604030504040204" pitchFamily="34" charset="-128"/>
                    <a:ea typeface="Meiryo" panose="020B0604030504040204" pitchFamily="34" charset="-128"/>
                  </a:rPr>
                  <a:t>KPI Navigator</a:t>
                </a:r>
                <a:r>
                  <a:rPr lang="ja-JP" altLang="en-US" sz="1200">
                    <a:latin typeface="Meiryo" panose="020B0604030504040204" pitchFamily="34" charset="-128"/>
                    <a:ea typeface="Meiryo" panose="020B0604030504040204" pitchFamily="34" charset="-128"/>
                  </a:rPr>
                  <a:t>のスクショ</a:t>
                </a:r>
                <a:endParaRPr lang="en" altLang="ja-JP" sz="1200" dirty="0">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4A2A17EF-E0CA-4ECA-390E-EA5B0EF1FDC5}"/>
                  </a:ext>
                </a:extLst>
              </p:cNvPr>
              <p:cNvSpPr txBox="1"/>
              <p:nvPr/>
            </p:nvSpPr>
            <p:spPr>
              <a:xfrm>
                <a:off x="1917964" y="6351103"/>
                <a:ext cx="1627369" cy="246221"/>
              </a:xfrm>
              <a:prstGeom prst="rect">
                <a:avLst/>
              </a:prstGeom>
              <a:noFill/>
            </p:spPr>
            <p:txBody>
              <a:bodyPr wrap="none" rtlCol="0">
                <a:spAutoFit/>
              </a:bodyPr>
              <a:lstStyle/>
              <a:p>
                <a:r>
                  <a:rPr lang="en-US" altLang="ja-JP" sz="1000" b="1" dirty="0">
                    <a:latin typeface="Meiryo" panose="020B0604030504040204" pitchFamily="34" charset="-128"/>
                    <a:ea typeface="Meiryo" panose="020B0604030504040204" pitchFamily="34" charset="-128"/>
                  </a:rPr>
                  <a:t>Cul2 &amp; KPI Container</a:t>
                </a:r>
              </a:p>
            </p:txBody>
          </p:sp>
          <p:sp>
            <p:nvSpPr>
              <p:cNvPr id="24" name="テキスト ボックス 23">
                <a:extLst>
                  <a:ext uri="{FF2B5EF4-FFF2-40B4-BE49-F238E27FC236}">
                    <a16:creationId xmlns:a16="http://schemas.microsoft.com/office/drawing/2014/main" id="{C914E7CF-8DAB-48B1-A672-336790D64525}"/>
                  </a:ext>
                </a:extLst>
              </p:cNvPr>
              <p:cNvSpPr txBox="1"/>
              <p:nvPr/>
            </p:nvSpPr>
            <p:spPr>
              <a:xfrm>
                <a:off x="4393622" y="6346959"/>
                <a:ext cx="1627369" cy="246221"/>
              </a:xfrm>
              <a:prstGeom prst="rect">
                <a:avLst/>
              </a:prstGeom>
              <a:noFill/>
            </p:spPr>
            <p:txBody>
              <a:bodyPr wrap="none" rtlCol="0">
                <a:spAutoFit/>
              </a:bodyPr>
              <a:lstStyle/>
              <a:p>
                <a:r>
                  <a:rPr lang="en-US" altLang="ja-JP" sz="1000" b="1" dirty="0">
                    <a:latin typeface="Meiryo" panose="020B0604030504040204" pitchFamily="34" charset="-128"/>
                    <a:ea typeface="Meiryo" panose="020B0604030504040204" pitchFamily="34" charset="-128"/>
                  </a:rPr>
                  <a:t>Cul2 &amp; KPI Container</a:t>
                </a:r>
              </a:p>
            </p:txBody>
          </p:sp>
        </p:grpSp>
      </p:grpSp>
    </p:spTree>
    <p:extLst>
      <p:ext uri="{BB962C8B-B14F-4D97-AF65-F5344CB8AC3E}">
        <p14:creationId xmlns:p14="http://schemas.microsoft.com/office/powerpoint/2010/main" val="886280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34E8092-89D6-D069-59E8-7250D0F43BA0}"/>
              </a:ext>
            </a:extLst>
          </p:cNvPr>
          <p:cNvSpPr txBox="1"/>
          <p:nvPr/>
        </p:nvSpPr>
        <p:spPr>
          <a:xfrm>
            <a:off x="2584345" y="262458"/>
            <a:ext cx="1689309" cy="276999"/>
          </a:xfrm>
          <a:prstGeom prst="rect">
            <a:avLst/>
          </a:prstGeom>
          <a:noFill/>
        </p:spPr>
        <p:txBody>
          <a:bodyPr wrap="none" rtlCol="0">
            <a:spAutoFit/>
          </a:bodyPr>
          <a:lstStyle/>
          <a:p>
            <a:pPr algn="ctr"/>
            <a:r>
              <a:rPr lang="en-US" altLang="ja-JP" sz="1200" dirty="0">
                <a:latin typeface="Meiryo" panose="020B0604030504040204" pitchFamily="34" charset="-128"/>
                <a:ea typeface="Meiryo" panose="020B0604030504040204" pitchFamily="34" charset="-128"/>
              </a:rPr>
              <a:t>②</a:t>
            </a:r>
            <a:r>
              <a:rPr lang="en" altLang="ja-JP" sz="1200" dirty="0">
                <a:latin typeface="Meiryo" panose="020B0604030504040204" pitchFamily="34" charset="-128"/>
                <a:ea typeface="Meiryo" panose="020B0604030504040204" pitchFamily="34" charset="-128"/>
              </a:rPr>
              <a:t>【KPI-Container】</a:t>
            </a:r>
          </a:p>
        </p:txBody>
      </p:sp>
      <p:pic>
        <p:nvPicPr>
          <p:cNvPr id="6" name="図 5" descr="グラフィカル ユーザー インターフェイス, アプリケーション&#10;&#10;AI 生成コンテンツは誤りを含む可能性があります。">
            <a:extLst>
              <a:ext uri="{FF2B5EF4-FFF2-40B4-BE49-F238E27FC236}">
                <a16:creationId xmlns:a16="http://schemas.microsoft.com/office/drawing/2014/main" id="{A3F251BC-C9A3-544F-C7DD-C4E6A5C72091}"/>
              </a:ext>
            </a:extLst>
          </p:cNvPr>
          <p:cNvPicPr>
            <a:picLocks noChangeAspect="1"/>
          </p:cNvPicPr>
          <p:nvPr/>
        </p:nvPicPr>
        <p:blipFill>
          <a:blip r:embed="rId2"/>
          <a:stretch>
            <a:fillRect/>
          </a:stretch>
        </p:blipFill>
        <p:spPr>
          <a:xfrm>
            <a:off x="635000" y="539457"/>
            <a:ext cx="5588000" cy="3856302"/>
          </a:xfrm>
          <a:prstGeom prst="rect">
            <a:avLst/>
          </a:prstGeom>
        </p:spPr>
      </p:pic>
      <p:sp>
        <p:nvSpPr>
          <p:cNvPr id="7" name="テキスト ボックス 6">
            <a:extLst>
              <a:ext uri="{FF2B5EF4-FFF2-40B4-BE49-F238E27FC236}">
                <a16:creationId xmlns:a16="http://schemas.microsoft.com/office/drawing/2014/main" id="{FD9E193A-5274-46F7-DB27-68ECC6242EB3}"/>
              </a:ext>
            </a:extLst>
          </p:cNvPr>
          <p:cNvSpPr txBox="1"/>
          <p:nvPr/>
        </p:nvSpPr>
        <p:spPr>
          <a:xfrm>
            <a:off x="219339" y="4534258"/>
            <a:ext cx="1431226" cy="276999"/>
          </a:xfrm>
          <a:prstGeom prst="rect">
            <a:avLst/>
          </a:prstGeom>
          <a:noFill/>
        </p:spPr>
        <p:txBody>
          <a:bodyPr wrap="none" rtlCol="0">
            <a:spAutoFit/>
          </a:bodyPr>
          <a:lstStyle/>
          <a:p>
            <a:r>
              <a:rPr lang="en" altLang="ja-JP" sz="1200" dirty="0">
                <a:latin typeface="Meiryo" panose="020B0604030504040204" pitchFamily="34" charset="-128"/>
                <a:ea typeface="Meiryo" panose="020B0604030504040204" pitchFamily="34" charset="-128"/>
              </a:rPr>
              <a:t>1. </a:t>
            </a:r>
            <a:r>
              <a:rPr lang="en-US" altLang="ja-JP" sz="1200" dirty="0">
                <a:latin typeface="Meiryo" panose="020B0604030504040204" pitchFamily="34" charset="-128"/>
                <a:ea typeface="Meiryo" panose="020B0604030504040204" pitchFamily="34" charset="-128"/>
              </a:rPr>
              <a:t>KPI-Container</a:t>
            </a:r>
          </a:p>
        </p:txBody>
      </p:sp>
      <p:pic>
        <p:nvPicPr>
          <p:cNvPr id="9" name="図 8" descr="グラフィカル ユーザー インターフェイス, テーブル&#10;&#10;AI 生成コンテンツは誤りを含む可能性があります。">
            <a:extLst>
              <a:ext uri="{FF2B5EF4-FFF2-40B4-BE49-F238E27FC236}">
                <a16:creationId xmlns:a16="http://schemas.microsoft.com/office/drawing/2014/main" id="{7456F6AE-4161-5587-8040-D77639583E52}"/>
              </a:ext>
            </a:extLst>
          </p:cNvPr>
          <p:cNvPicPr>
            <a:picLocks noChangeAspect="1"/>
          </p:cNvPicPr>
          <p:nvPr/>
        </p:nvPicPr>
        <p:blipFill>
          <a:blip r:embed="rId3"/>
          <a:stretch>
            <a:fillRect/>
          </a:stretch>
        </p:blipFill>
        <p:spPr>
          <a:xfrm>
            <a:off x="2927350" y="4534258"/>
            <a:ext cx="3930650" cy="4404698"/>
          </a:xfrm>
          <a:prstGeom prst="rect">
            <a:avLst/>
          </a:prstGeom>
        </p:spPr>
      </p:pic>
      <p:sp>
        <p:nvSpPr>
          <p:cNvPr id="10" name="テキスト ボックス 9">
            <a:extLst>
              <a:ext uri="{FF2B5EF4-FFF2-40B4-BE49-F238E27FC236}">
                <a16:creationId xmlns:a16="http://schemas.microsoft.com/office/drawing/2014/main" id="{17BB7AD6-93C6-7AEC-EDE6-CC181B04D12B}"/>
              </a:ext>
            </a:extLst>
          </p:cNvPr>
          <p:cNvSpPr txBox="1"/>
          <p:nvPr/>
        </p:nvSpPr>
        <p:spPr>
          <a:xfrm>
            <a:off x="110684" y="4811257"/>
            <a:ext cx="3044423" cy="2246769"/>
          </a:xfrm>
          <a:prstGeom prst="rect">
            <a:avLst/>
          </a:prstGeom>
          <a:noFill/>
        </p:spPr>
        <p:txBody>
          <a:bodyPr wrap="none" rtlCol="0">
            <a:spAutoFit/>
          </a:bodyPr>
          <a:lstStyle/>
          <a:p>
            <a:pPr marL="228600" indent="-228600">
              <a:buAutoNum type="arabicPeriod"/>
            </a:pPr>
            <a:r>
              <a:rPr lang="en-US" altLang="ja-JP" sz="1000" dirty="0">
                <a:latin typeface="Meiryo" panose="020B0604030504040204" pitchFamily="34" charset="-128"/>
                <a:ea typeface="Meiryo" panose="020B0604030504040204" pitchFamily="34" charset="-128"/>
              </a:rPr>
              <a:t>KPI-Container</a:t>
            </a:r>
            <a:r>
              <a:rPr lang="ja-JP" altLang="en-US" sz="1000">
                <a:latin typeface="Meiryo" panose="020B0604030504040204" pitchFamily="34" charset="-128"/>
                <a:ea typeface="Meiryo" panose="020B0604030504040204" pitchFamily="34" charset="-128"/>
              </a:rPr>
              <a:t>はページ内にある</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メインパートです。名んページ中央にある</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ボックスコンテンツ</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2. daily-bar</a:t>
            </a:r>
            <a:r>
              <a:rPr lang="ja-JP" altLang="en-US" sz="1000">
                <a:latin typeface="Meiryo" panose="020B0604030504040204" pitchFamily="34" charset="-128"/>
                <a:ea typeface="Meiryo" panose="020B0604030504040204" pitchFamily="34" charset="-128"/>
              </a:rPr>
              <a:t>的なものは</a:t>
            </a:r>
            <a:r>
              <a:rPr lang="en-US" altLang="ja-JP" sz="1000" dirty="0">
                <a:latin typeface="Meiryo" panose="020B0604030504040204" pitchFamily="34" charset="-128"/>
                <a:ea typeface="Meiryo" panose="020B0604030504040204" pitchFamily="34" charset="-128"/>
              </a:rPr>
              <a:t>365</a:t>
            </a:r>
            <a:r>
              <a:rPr lang="ja-JP" altLang="en-US" sz="1000">
                <a:latin typeface="Meiryo" panose="020B0604030504040204" pitchFamily="34" charset="-128"/>
                <a:ea typeface="Meiryo" panose="020B0604030504040204" pitchFamily="34" charset="-128"/>
              </a:rPr>
              <a:t>日</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閏年は</a:t>
            </a:r>
            <a:r>
              <a:rPr lang="en-US" altLang="ja-JP" sz="1000" dirty="0">
                <a:latin typeface="Meiryo" panose="020B0604030504040204" pitchFamily="34" charset="-128"/>
                <a:ea typeface="Meiryo" panose="020B0604030504040204" pitchFamily="34" charset="-128"/>
              </a:rPr>
              <a:t>366</a:t>
            </a:r>
            <a:r>
              <a:rPr lang="ja-JP" altLang="en-US" sz="1000">
                <a:latin typeface="Meiryo" panose="020B0604030504040204" pitchFamily="34" charset="-128"/>
                <a:ea typeface="Meiryo" panose="020B0604030504040204" pitchFamily="34" charset="-128"/>
              </a:rPr>
              <a:t>日</a:t>
            </a:r>
            <a:r>
              <a:rPr lang="en-US" altLang="ja-JP" sz="1000" dirty="0">
                <a:latin typeface="Meiryo" panose="020B0604030504040204" pitchFamily="34" charset="-128"/>
                <a:ea typeface="Meiryo" panose="020B0604030504040204" pitchFamily="34" charset="-128"/>
              </a:rPr>
              <a:t>)</a:t>
            </a:r>
          </a:p>
          <a:p>
            <a:r>
              <a:rPr lang="en-US" altLang="ja-JP" sz="1000" dirty="0">
                <a:latin typeface="Meiryo" panose="020B0604030504040204" pitchFamily="34" charset="-128"/>
                <a:ea typeface="Meiryo" panose="020B0604030504040204" pitchFamily="34" charset="-128"/>
              </a:rPr>
              <a:t>3. daily-bar</a:t>
            </a:r>
            <a:r>
              <a:rPr lang="ja-JP" altLang="en-US" sz="1000">
                <a:latin typeface="Meiryo" panose="020B0604030504040204" pitchFamily="34" charset="-128"/>
                <a:ea typeface="Meiryo" panose="020B0604030504040204" pitchFamily="34" charset="-128"/>
              </a:rPr>
              <a:t>の本日・任意の日程は虫眼鏡</a:t>
            </a:r>
            <a:r>
              <a:rPr lang="en-US" altLang="ja-JP" sz="1000" dirty="0">
                <a:latin typeface="Meiryo" panose="020B0604030504040204" pitchFamily="34" charset="-128"/>
                <a:ea typeface="Meiryo" panose="020B0604030504040204" pitchFamily="34" charset="-128"/>
              </a:rPr>
              <a:t> </a:t>
            </a:r>
          </a:p>
          <a:p>
            <a:r>
              <a:rPr lang="en-US" altLang="ja-JP" sz="1000" dirty="0">
                <a:latin typeface="Meiryo" panose="020B0604030504040204" pitchFamily="34" charset="-128"/>
                <a:ea typeface="Meiryo" panose="020B0604030504040204" pitchFamily="34" charset="-128"/>
              </a:rPr>
              <a:t>Magnifying glass daily Bar</a:t>
            </a:r>
            <a:r>
              <a:rPr lang="ja-JP" altLang="en-US" sz="1000">
                <a:latin typeface="Meiryo" panose="020B0604030504040204" pitchFamily="34" charset="-128"/>
                <a:ea typeface="Meiryo" panose="020B0604030504040204" pitchFamily="34" charset="-128"/>
              </a:rPr>
              <a:t>の様にボックス内に</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表示されている、</a:t>
            </a:r>
            <a:r>
              <a:rPr lang="en-US" altLang="ja-JP" sz="1000" dirty="0">
                <a:latin typeface="Meiryo" panose="020B0604030504040204" pitchFamily="34" charset="-128"/>
                <a:ea typeface="Meiryo" panose="020B0604030504040204" pitchFamily="34" charset="-128"/>
              </a:rPr>
              <a:t>daily bar</a:t>
            </a:r>
            <a:r>
              <a:rPr lang="ja-JP" altLang="en-US" sz="1000">
                <a:latin typeface="Meiryo" panose="020B0604030504040204" pitchFamily="34" charset="-128"/>
                <a:ea typeface="Meiryo" panose="020B0604030504040204" pitchFamily="34" charset="-128"/>
              </a:rPr>
              <a:t>の上から五段目あた</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りに固定表示、年始</a:t>
            </a:r>
            <a:r>
              <a:rPr lang="en-US" altLang="ja-JP" sz="1000" dirty="0">
                <a:latin typeface="Meiryo" panose="020B0604030504040204" pitchFamily="34" charset="-128"/>
                <a:ea typeface="Meiryo" panose="020B0604030504040204" pitchFamily="34" charset="-128"/>
              </a:rPr>
              <a:t>1/1</a:t>
            </a:r>
            <a:r>
              <a:rPr lang="ja-JP" altLang="en-US" sz="1000">
                <a:latin typeface="Meiryo" panose="020B0604030504040204" pitchFamily="34" charset="-128"/>
                <a:ea typeface="Meiryo" panose="020B0604030504040204" pitchFamily="34" charset="-128"/>
              </a:rPr>
              <a:t>は前年の虫眼鏡</a:t>
            </a:r>
            <a:r>
              <a:rPr lang="en-US" altLang="ja-JP" sz="1000" dirty="0">
                <a:latin typeface="Meiryo" panose="020B0604030504040204" pitchFamily="34" charset="-128"/>
                <a:ea typeface="Meiryo" panose="020B0604030504040204" pitchFamily="34" charset="-128"/>
              </a:rPr>
              <a:t>bar</a:t>
            </a:r>
            <a:r>
              <a:rPr lang="ja-JP" altLang="en-US" sz="1000">
                <a:latin typeface="Meiryo" panose="020B0604030504040204" pitchFamily="34" charset="-128"/>
                <a:ea typeface="Meiryo" panose="020B0604030504040204" pitchFamily="34" charset="-128"/>
              </a:rPr>
              <a:t>の上に</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は</a:t>
            </a:r>
            <a:r>
              <a:rPr lang="en-US" altLang="ja-JP" sz="1000" dirty="0">
                <a:latin typeface="Meiryo" panose="020B0604030504040204" pitchFamily="34" charset="-128"/>
                <a:ea typeface="Meiryo" panose="020B0604030504040204" pitchFamily="34" charset="-128"/>
              </a:rPr>
              <a:t>daily bar</a:t>
            </a:r>
            <a:r>
              <a:rPr lang="ja-JP" altLang="en-US" sz="1000">
                <a:latin typeface="Meiryo" panose="020B0604030504040204" pitchFamily="34" charset="-128"/>
                <a:ea typeface="Meiryo" panose="020B0604030504040204" pitchFamily="34" charset="-128"/>
              </a:rPr>
              <a:t>が</a:t>
            </a:r>
            <a:r>
              <a:rPr lang="en-US" altLang="ja-JP" sz="1000" dirty="0">
                <a:latin typeface="Meiryo" panose="020B0604030504040204" pitchFamily="34" charset="-128"/>
                <a:ea typeface="Meiryo" panose="020B0604030504040204" pitchFamily="34" charset="-128"/>
              </a:rPr>
              <a:t>4</a:t>
            </a:r>
            <a:r>
              <a:rPr lang="ja-JP" altLang="en-US" sz="1000">
                <a:latin typeface="Meiryo" panose="020B0604030504040204" pitchFamily="34" charset="-128"/>
                <a:ea typeface="Meiryo" panose="020B0604030504040204" pitchFamily="34" charset="-128"/>
              </a:rPr>
              <a:t>日分見えている、</a:t>
            </a:r>
            <a:r>
              <a:rPr lang="en-US" altLang="ja-JP" sz="1000" dirty="0">
                <a:latin typeface="Meiryo" panose="020B0604030504040204" pitchFamily="34" charset="-128"/>
                <a:ea typeface="Meiryo" panose="020B0604030504040204" pitchFamily="34" charset="-128"/>
              </a:rPr>
              <a:t>12</a:t>
            </a:r>
            <a:r>
              <a:rPr lang="ja-JP" altLang="en-US" sz="1000">
                <a:latin typeface="Meiryo" panose="020B0604030504040204" pitchFamily="34" charset="-128"/>
                <a:ea typeface="Meiryo" panose="020B0604030504040204" pitchFamily="34" charset="-128"/>
              </a:rPr>
              <a:t>月中旬以降</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翌年部分は見えてくる。</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4. calendar-and-date cul1</a:t>
            </a:r>
            <a:r>
              <a:rPr lang="ja-JP" altLang="en-US" sz="1000">
                <a:latin typeface="Meiryo" panose="020B0604030504040204" pitchFamily="34" charset="-128"/>
                <a:ea typeface="Meiryo" panose="020B0604030504040204" pitchFamily="34" charset="-128"/>
              </a:rPr>
              <a:t>で選択した日程が</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固定された虫眼鏡</a:t>
            </a:r>
            <a:r>
              <a:rPr lang="en-US" altLang="ja-JP" sz="1000" dirty="0">
                <a:latin typeface="Meiryo" panose="020B0604030504040204" pitchFamily="34" charset="-128"/>
                <a:ea typeface="Meiryo" panose="020B0604030504040204" pitchFamily="34" charset="-128"/>
              </a:rPr>
              <a:t>bar</a:t>
            </a:r>
            <a:r>
              <a:rPr lang="ja-JP" altLang="en-US" sz="1000">
                <a:latin typeface="Meiryo" panose="020B0604030504040204" pitchFamily="34" charset="-128"/>
                <a:ea typeface="Meiryo" panose="020B0604030504040204" pitchFamily="34" charset="-128"/>
              </a:rPr>
              <a:t>に入ってくる、その際は</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アニメーションでビューーンと言った感じで</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飛ぶ。</a:t>
            </a:r>
            <a:endParaRPr lang="en-US" altLang="ja-JP" sz="1000" dirty="0">
              <a:latin typeface="Meiryo" panose="020B0604030504040204" pitchFamily="34" charset="-128"/>
              <a:ea typeface="Meiryo" panose="020B0604030504040204" pitchFamily="34" charset="-128"/>
            </a:endParaRPr>
          </a:p>
        </p:txBody>
      </p:sp>
      <p:pic>
        <p:nvPicPr>
          <p:cNvPr id="12" name="図 11" descr="パソコンの画面&#10;&#10;AI 生成コンテンツは誤りを含む可能性があります。">
            <a:extLst>
              <a:ext uri="{FF2B5EF4-FFF2-40B4-BE49-F238E27FC236}">
                <a16:creationId xmlns:a16="http://schemas.microsoft.com/office/drawing/2014/main" id="{7143FC60-6ADE-CBC0-6378-E9A8CDCBF798}"/>
              </a:ext>
            </a:extLst>
          </p:cNvPr>
          <p:cNvPicPr>
            <a:picLocks noChangeAspect="1"/>
          </p:cNvPicPr>
          <p:nvPr/>
        </p:nvPicPr>
        <p:blipFill>
          <a:blip r:embed="rId4"/>
          <a:stretch>
            <a:fillRect/>
          </a:stretch>
        </p:blipFill>
        <p:spPr>
          <a:xfrm flipV="1">
            <a:off x="0" y="7968712"/>
            <a:ext cx="2890520" cy="750423"/>
          </a:xfrm>
          <a:prstGeom prst="rect">
            <a:avLst/>
          </a:prstGeom>
        </p:spPr>
      </p:pic>
      <p:sp>
        <p:nvSpPr>
          <p:cNvPr id="13" name="正方形/長方形 12">
            <a:extLst>
              <a:ext uri="{FF2B5EF4-FFF2-40B4-BE49-F238E27FC236}">
                <a16:creationId xmlns:a16="http://schemas.microsoft.com/office/drawing/2014/main" id="{1A794FE3-F38C-33C9-1021-7D748E9BA735}"/>
              </a:ext>
            </a:extLst>
          </p:cNvPr>
          <p:cNvSpPr/>
          <p:nvPr/>
        </p:nvSpPr>
        <p:spPr>
          <a:xfrm>
            <a:off x="3104607" y="5239741"/>
            <a:ext cx="3501933" cy="566699"/>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FF0000"/>
              </a:solidFill>
            </a:endParaRPr>
          </a:p>
        </p:txBody>
      </p:sp>
      <p:cxnSp>
        <p:nvCxnSpPr>
          <p:cNvPr id="15" name="直線矢印コネクタ 14">
            <a:extLst>
              <a:ext uri="{FF2B5EF4-FFF2-40B4-BE49-F238E27FC236}">
                <a16:creationId xmlns:a16="http://schemas.microsoft.com/office/drawing/2014/main" id="{13B04C40-B845-CCC7-FF0D-A2ECE60DF811}"/>
              </a:ext>
            </a:extLst>
          </p:cNvPr>
          <p:cNvCxnSpPr>
            <a:cxnSpLocks/>
            <a:endCxn id="23" idx="3"/>
          </p:cNvCxnSpPr>
          <p:nvPr/>
        </p:nvCxnSpPr>
        <p:spPr>
          <a:xfrm flipH="1">
            <a:off x="2727128" y="5857254"/>
            <a:ext cx="948045" cy="2013350"/>
          </a:xfrm>
          <a:prstGeom prst="straightConnector1">
            <a:avLst/>
          </a:prstGeom>
          <a:ln>
            <a:solidFill>
              <a:srgbClr val="FF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E307B22E-1BA1-540E-F6E3-32E97E01D047}"/>
              </a:ext>
            </a:extLst>
          </p:cNvPr>
          <p:cNvSpPr/>
          <p:nvPr/>
        </p:nvSpPr>
        <p:spPr>
          <a:xfrm>
            <a:off x="205369" y="8112305"/>
            <a:ext cx="2437673" cy="446944"/>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FF0000"/>
              </a:solidFill>
            </a:endParaRPr>
          </a:p>
        </p:txBody>
      </p:sp>
      <p:sp>
        <p:nvSpPr>
          <p:cNvPr id="23" name="テキスト ボックス 22">
            <a:extLst>
              <a:ext uri="{FF2B5EF4-FFF2-40B4-BE49-F238E27FC236}">
                <a16:creationId xmlns:a16="http://schemas.microsoft.com/office/drawing/2014/main" id="{E95A0A29-34D0-1238-B209-AED7217A1400}"/>
              </a:ext>
            </a:extLst>
          </p:cNvPr>
          <p:cNvSpPr txBox="1"/>
          <p:nvPr/>
        </p:nvSpPr>
        <p:spPr>
          <a:xfrm>
            <a:off x="17732" y="7747493"/>
            <a:ext cx="2709396" cy="246221"/>
          </a:xfrm>
          <a:prstGeom prst="rect">
            <a:avLst/>
          </a:prstGeom>
          <a:noFill/>
        </p:spPr>
        <p:txBody>
          <a:bodyPr wrap="none" rtlCol="0">
            <a:spAutoFit/>
          </a:bodyPr>
          <a:lstStyle/>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イメージ：</a:t>
            </a:r>
            <a:r>
              <a:rPr lang="en-US" altLang="ja-JP" sz="1000" dirty="0">
                <a:latin typeface="Meiryo" panose="020B0604030504040204" pitchFamily="34" charset="-128"/>
                <a:ea typeface="Meiryo" panose="020B0604030504040204" pitchFamily="34" charset="-128"/>
              </a:rPr>
              <a:t>Daily Magnifying glass bar】</a:t>
            </a:r>
          </a:p>
        </p:txBody>
      </p:sp>
      <p:sp>
        <p:nvSpPr>
          <p:cNvPr id="24" name="テキスト ボックス 23">
            <a:extLst>
              <a:ext uri="{FF2B5EF4-FFF2-40B4-BE49-F238E27FC236}">
                <a16:creationId xmlns:a16="http://schemas.microsoft.com/office/drawing/2014/main" id="{B435EAC1-4764-A925-413A-A730F848F555}"/>
              </a:ext>
            </a:extLst>
          </p:cNvPr>
          <p:cNvSpPr txBox="1"/>
          <p:nvPr/>
        </p:nvSpPr>
        <p:spPr>
          <a:xfrm>
            <a:off x="110684" y="9322382"/>
            <a:ext cx="6598281" cy="2092881"/>
          </a:xfrm>
          <a:prstGeom prst="rect">
            <a:avLst/>
          </a:prstGeom>
          <a:noFill/>
        </p:spPr>
        <p:txBody>
          <a:bodyPr wrap="none" rtlCol="0">
            <a:spAutoFit/>
          </a:bodyPr>
          <a:lstStyle/>
          <a:p>
            <a:r>
              <a:rPr lang="en-US" altLang="ja-JP" sz="1000" dirty="0">
                <a:latin typeface="Meiryo" panose="020B0604030504040204" pitchFamily="34" charset="-128"/>
                <a:ea typeface="Meiryo" panose="020B0604030504040204" pitchFamily="34" charset="-128"/>
              </a:rPr>
              <a:t>1. calendar-and-date cul3</a:t>
            </a:r>
            <a:r>
              <a:rPr lang="ja-JP" altLang="en-US" sz="1000">
                <a:latin typeface="Meiryo" panose="020B0604030504040204" pitchFamily="34" charset="-128"/>
                <a:ea typeface="Meiryo" panose="020B0604030504040204" pitchFamily="34" charset="-128"/>
              </a:rPr>
              <a:t>の追加表示ボタン</a:t>
            </a:r>
            <a:r>
              <a:rPr lang="en-US" altLang="ja-JP" sz="1000" dirty="0">
                <a:latin typeface="Meiryo" panose="020B0604030504040204" pitchFamily="34" charset="-128"/>
                <a:ea typeface="Meiryo" panose="020B0604030504040204" pitchFamily="34" charset="-128"/>
              </a:rPr>
              <a:t>(</a:t>
            </a:r>
          </a:p>
          <a:p>
            <a:r>
              <a:rPr lang="ja-JP" altLang="en-US" sz="1000">
                <a:latin typeface="Meiryo" panose="020B0604030504040204" pitchFamily="34" charset="-128"/>
                <a:ea typeface="Meiryo" panose="020B0604030504040204" pitchFamily="34" charset="-128"/>
              </a:rPr>
              <a:t>閉じる</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と</a:t>
            </a:r>
            <a:r>
              <a:rPr lang="en-US" altLang="ja-JP" sz="1000" dirty="0">
                <a:latin typeface="Meiryo" panose="020B0604030504040204" pitchFamily="34" charset="-128"/>
                <a:ea typeface="Meiryo" panose="020B0604030504040204" pitchFamily="34" charset="-128"/>
              </a:rPr>
              <a:t>Magnifying glass bar</a:t>
            </a:r>
            <a:r>
              <a:rPr lang="ja-JP" altLang="en-US" sz="1000">
                <a:latin typeface="Meiryo" panose="020B0604030504040204" pitchFamily="34" charset="-128"/>
                <a:ea typeface="Meiryo" panose="020B0604030504040204" pitchFamily="34" charset="-128"/>
              </a:rPr>
              <a:t>の右端に▶︎ボタ</a:t>
            </a:r>
            <a:endParaRPr lang="en-US" altLang="ja-JP" sz="1000" dirty="0">
              <a:latin typeface="Meiryo" panose="020B0604030504040204" pitchFamily="34" charset="-128"/>
              <a:ea typeface="Meiryo" panose="020B0604030504040204" pitchFamily="34" charset="-128"/>
            </a:endParaRPr>
          </a:p>
          <a:p>
            <a:r>
              <a:rPr lang="ja-JP" altLang="en-US" sz="1000">
                <a:latin typeface="Meiryo" panose="020B0604030504040204" pitchFamily="34" charset="-128"/>
                <a:ea typeface="Meiryo" panose="020B0604030504040204" pitchFamily="34" charset="-128"/>
              </a:rPr>
              <a:t>ンで拡張、◀︎で閉じる</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2. </a:t>
            </a:r>
            <a:r>
              <a:rPr lang="ja-JP" altLang="en-US" sz="1000">
                <a:latin typeface="Meiryo" panose="020B0604030504040204" pitchFamily="34" charset="-128"/>
                <a:ea typeface="Meiryo" panose="020B0604030504040204" pitchFamily="34" charset="-128"/>
              </a:rPr>
              <a:t>本日の売上額の入力は別ページ</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月次</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ページで入力した金額が、飛んでくる。</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3. 365</a:t>
            </a:r>
            <a:r>
              <a:rPr lang="ja-JP" altLang="en-US" sz="1000">
                <a:latin typeface="Meiryo" panose="020B0604030504040204" pitchFamily="34" charset="-128"/>
                <a:ea typeface="Meiryo" panose="020B0604030504040204" pitchFamily="34" charset="-128"/>
              </a:rPr>
              <a:t>日分ある</a:t>
            </a:r>
            <a:r>
              <a:rPr lang="en-US" altLang="ja-JP" sz="1000" dirty="0">
                <a:latin typeface="Meiryo" panose="020B0604030504040204" pitchFamily="34" charset="-128"/>
                <a:ea typeface="Meiryo" panose="020B0604030504040204" pitchFamily="34" charset="-128"/>
              </a:rPr>
              <a:t>daily-bar</a:t>
            </a:r>
            <a:r>
              <a:rPr lang="ja-JP" altLang="en-US" sz="1000">
                <a:latin typeface="Meiryo" panose="020B0604030504040204" pitchFamily="34" charset="-128"/>
                <a:ea typeface="Meiryo" panose="020B0604030504040204" pitchFamily="34" charset="-128"/>
              </a:rPr>
              <a:t>に記入されているデータの今年の目標額は、</a:t>
            </a:r>
            <a:r>
              <a:rPr lang="en-US" altLang="ja-JP" sz="1000" dirty="0">
                <a:latin typeface="Meiryo" panose="020B0604030504040204" pitchFamily="34" charset="-128"/>
                <a:ea typeface="Meiryo" panose="020B0604030504040204" pitchFamily="34" charset="-128"/>
              </a:rPr>
              <a:t>KPI</a:t>
            </a:r>
            <a:r>
              <a:rPr lang="ja-JP" altLang="en-US" sz="1000">
                <a:latin typeface="Meiryo" panose="020B0604030504040204" pitchFamily="34" charset="-128"/>
                <a:ea typeface="Meiryo" panose="020B0604030504040204" pitchFamily="34" charset="-128"/>
              </a:rPr>
              <a:t>設定ページ</a:t>
            </a:r>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後でコンセプト作成予定</a:t>
            </a:r>
            <a:r>
              <a:rPr lang="en-US" altLang="ja-JP" sz="1000" dirty="0">
                <a:latin typeface="Meiryo" panose="020B0604030504040204" pitchFamily="34" charset="-128"/>
                <a:ea typeface="Meiryo" panose="020B0604030504040204" pitchFamily="34" charset="-128"/>
              </a:rPr>
              <a:t>)</a:t>
            </a:r>
          </a:p>
          <a:p>
            <a:r>
              <a:rPr lang="ja-JP" altLang="en-US" sz="1000">
                <a:latin typeface="Meiryo" panose="020B0604030504040204" pitchFamily="34" charset="-128"/>
                <a:ea typeface="Meiryo" panose="020B0604030504040204" pitchFamily="34" charset="-128"/>
              </a:rPr>
              <a:t>前年の日次の売上を全て入力する必要あり→繁閑月・曜日を設定し、今年の目標売上額から算出して返す。</a:t>
            </a:r>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4. </a:t>
            </a:r>
            <a:r>
              <a:rPr lang="ja-JP" altLang="en-US" sz="1000">
                <a:latin typeface="Meiryo" panose="020B0604030504040204" pitchFamily="34" charset="-128"/>
                <a:ea typeface="Meiryo" panose="020B0604030504040204" pitchFamily="34" charset="-128"/>
              </a:rPr>
              <a:t>要素</a:t>
            </a:r>
            <a:endParaRPr lang="en-US" altLang="ja-JP" sz="1000" dirty="0">
              <a:latin typeface="Meiryo" panose="020B0604030504040204" pitchFamily="34" charset="-128"/>
              <a:ea typeface="Meiryo" panose="020B0604030504040204" pitchFamily="34" charset="-128"/>
            </a:endParaRPr>
          </a:p>
          <a:p>
            <a:endParaRPr lang="en-US" altLang="ja-JP" sz="1000" dirty="0">
              <a:latin typeface="Meiryo" panose="020B0604030504040204" pitchFamily="34" charset="-128"/>
              <a:ea typeface="Meiryo" panose="020B0604030504040204" pitchFamily="34" charset="-128"/>
            </a:endParaRPr>
          </a:p>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日次</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ja-JP" altLang="en-US" sz="1000">
                <a:latin typeface="Meiryo" panose="020B0604030504040204" pitchFamily="34" charset="-128"/>
                <a:ea typeface="Meiryo" panose="020B0604030504040204" pitchFamily="34" charset="-128"/>
              </a:rPr>
              <a:t>本日の売上</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本日の目標売上</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差額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達成率</a:t>
            </a:r>
            <a:endParaRPr lang="en-US" altLang="ja-JP" sz="1000" dirty="0">
              <a:latin typeface="Meiryo" panose="020B0604030504040204" pitchFamily="34" charset="-128"/>
              <a:ea typeface="Meiryo" panose="020B0604030504040204" pitchFamily="34" charset="-128"/>
            </a:endParaRPr>
          </a:p>
        </p:txBody>
      </p:sp>
      <p:sp>
        <p:nvSpPr>
          <p:cNvPr id="25" name="テキスト ボックス 24">
            <a:extLst>
              <a:ext uri="{FF2B5EF4-FFF2-40B4-BE49-F238E27FC236}">
                <a16:creationId xmlns:a16="http://schemas.microsoft.com/office/drawing/2014/main" id="{F3D85106-6658-9B47-3AF7-F328C5D16F76}"/>
              </a:ext>
            </a:extLst>
          </p:cNvPr>
          <p:cNvSpPr txBox="1"/>
          <p:nvPr/>
        </p:nvSpPr>
        <p:spPr>
          <a:xfrm>
            <a:off x="219339" y="9013310"/>
            <a:ext cx="2806602" cy="276999"/>
          </a:xfrm>
          <a:prstGeom prst="rect">
            <a:avLst/>
          </a:prstGeom>
          <a:noFill/>
        </p:spPr>
        <p:txBody>
          <a:bodyPr wrap="none" rtlCol="0">
            <a:spAutoFit/>
          </a:bodyPr>
          <a:lstStyle/>
          <a:p>
            <a:r>
              <a:rPr lang="en" altLang="ja-JP" sz="1200" dirty="0">
                <a:latin typeface="Meiryo" panose="020B0604030504040204" pitchFamily="34" charset="-128"/>
                <a:ea typeface="Meiryo" panose="020B0604030504040204" pitchFamily="34" charset="-128"/>
              </a:rPr>
              <a:t>2. </a:t>
            </a:r>
            <a:r>
              <a:rPr lang="en-US" altLang="ja-JP" sz="1200" dirty="0">
                <a:latin typeface="Meiryo" panose="020B0604030504040204" pitchFamily="34" charset="-128"/>
                <a:ea typeface="Meiryo" panose="020B0604030504040204" pitchFamily="34" charset="-128"/>
              </a:rPr>
              <a:t>Daily magnifying glass bar(</a:t>
            </a:r>
            <a:r>
              <a:rPr lang="ja-JP" altLang="en-US" sz="1200">
                <a:latin typeface="Meiryo" panose="020B0604030504040204" pitchFamily="34" charset="-128"/>
                <a:ea typeface="Meiryo" panose="020B0604030504040204" pitchFamily="34" charset="-128"/>
              </a:rPr>
              <a:t>仮名</a:t>
            </a:r>
            <a:r>
              <a:rPr lang="en-US" altLang="ja-JP" sz="1200" dirty="0">
                <a:latin typeface="Meiryo" panose="020B0604030504040204" pitchFamily="34" charset="-128"/>
                <a:ea typeface="Meiryo" panose="020B0604030504040204" pitchFamily="34" charset="-128"/>
              </a:rPr>
              <a:t>)</a:t>
            </a:r>
          </a:p>
        </p:txBody>
      </p:sp>
      <p:sp>
        <p:nvSpPr>
          <p:cNvPr id="27" name="テキスト ボックス 26">
            <a:extLst>
              <a:ext uri="{FF2B5EF4-FFF2-40B4-BE49-F238E27FC236}">
                <a16:creationId xmlns:a16="http://schemas.microsoft.com/office/drawing/2014/main" id="{42721E2B-461A-2B17-D5EE-F9DF89EE724C}"/>
              </a:ext>
            </a:extLst>
          </p:cNvPr>
          <p:cNvSpPr txBox="1"/>
          <p:nvPr/>
        </p:nvSpPr>
        <p:spPr>
          <a:xfrm>
            <a:off x="1639393" y="10553489"/>
            <a:ext cx="1441420" cy="861774"/>
          </a:xfrm>
          <a:prstGeom prst="rect">
            <a:avLst/>
          </a:prstGeom>
          <a:noFill/>
        </p:spPr>
        <p:txBody>
          <a:bodyPr wrap="none" rtlCol="0">
            <a:spAutoFit/>
          </a:bodyPr>
          <a:lstStyle/>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月次</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ja-JP" altLang="en-US" sz="1000">
                <a:latin typeface="Meiryo" panose="020B0604030504040204" pitchFamily="34" charset="-128"/>
                <a:ea typeface="Meiryo" panose="020B0604030504040204" pitchFamily="34" charset="-128"/>
              </a:rPr>
              <a:t>月次実質売上額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月次目標類上げ額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差額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年次達成率</a:t>
            </a:r>
            <a:endParaRPr lang="en-US" altLang="ja-JP" sz="1000" dirty="0">
              <a:latin typeface="Meiryo" panose="020B0604030504040204" pitchFamily="34" charset="-128"/>
              <a:ea typeface="Meiryo" panose="020B0604030504040204" pitchFamily="34" charset="-128"/>
            </a:endParaRPr>
          </a:p>
        </p:txBody>
      </p:sp>
      <p:sp>
        <p:nvSpPr>
          <p:cNvPr id="28" name="テキスト ボックス 27">
            <a:extLst>
              <a:ext uri="{FF2B5EF4-FFF2-40B4-BE49-F238E27FC236}">
                <a16:creationId xmlns:a16="http://schemas.microsoft.com/office/drawing/2014/main" id="{3B69D9E6-3067-F059-C659-2CE29114FD33}"/>
              </a:ext>
            </a:extLst>
          </p:cNvPr>
          <p:cNvSpPr txBox="1"/>
          <p:nvPr/>
        </p:nvSpPr>
        <p:spPr>
          <a:xfrm>
            <a:off x="3256687" y="10553489"/>
            <a:ext cx="1441420" cy="861774"/>
          </a:xfrm>
          <a:prstGeom prst="rect">
            <a:avLst/>
          </a:prstGeom>
          <a:noFill/>
        </p:spPr>
        <p:txBody>
          <a:bodyPr wrap="none" rtlCol="0">
            <a:spAutoFit/>
          </a:bodyPr>
          <a:lstStyle/>
          <a:p>
            <a:r>
              <a:rPr lang="en-US" altLang="ja-JP" sz="1000" dirty="0">
                <a:latin typeface="Meiryo" panose="020B0604030504040204" pitchFamily="34" charset="-128"/>
                <a:ea typeface="Meiryo" panose="020B0604030504040204" pitchFamily="34" charset="-128"/>
              </a:rPr>
              <a:t>【</a:t>
            </a:r>
            <a:r>
              <a:rPr lang="ja-JP" altLang="en-US" sz="1000">
                <a:latin typeface="Meiryo" panose="020B0604030504040204" pitchFamily="34" charset="-128"/>
                <a:ea typeface="Meiryo" panose="020B0604030504040204" pitchFamily="34" charset="-128"/>
              </a:rPr>
              <a:t>年次</a:t>
            </a:r>
            <a:r>
              <a:rPr lang="en-US" altLang="ja-JP" sz="1000" dirty="0">
                <a:latin typeface="Meiryo" panose="020B0604030504040204" pitchFamily="34" charset="-128"/>
                <a:ea typeface="Meiryo" panose="020B0604030504040204" pitchFamily="34" charset="-128"/>
              </a:rPr>
              <a:t>】</a:t>
            </a:r>
          </a:p>
          <a:p>
            <a:pPr marL="228600" indent="-228600">
              <a:buAutoNum type="arabicPeriod"/>
            </a:pPr>
            <a:r>
              <a:rPr lang="ja-JP" altLang="en-US" sz="1000">
                <a:latin typeface="Meiryo" panose="020B0604030504040204" pitchFamily="34" charset="-128"/>
                <a:ea typeface="Meiryo" panose="020B0604030504040204" pitchFamily="34" charset="-128"/>
              </a:rPr>
              <a:t>年次実質売上額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年次目標類上げ額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差額</a:t>
            </a:r>
            <a:endParaRPr lang="en-US" altLang="ja-JP" sz="1000" dirty="0">
              <a:latin typeface="Meiryo" panose="020B0604030504040204" pitchFamily="34" charset="-128"/>
              <a:ea typeface="Meiryo" panose="020B0604030504040204" pitchFamily="34" charset="-128"/>
            </a:endParaRPr>
          </a:p>
          <a:p>
            <a:pPr marL="228600" indent="-228600">
              <a:buAutoNum type="arabicPeriod"/>
            </a:pPr>
            <a:r>
              <a:rPr lang="ja-JP" altLang="en-US" sz="1000">
                <a:latin typeface="Meiryo" panose="020B0604030504040204" pitchFamily="34" charset="-128"/>
                <a:ea typeface="Meiryo" panose="020B0604030504040204" pitchFamily="34" charset="-128"/>
              </a:rPr>
              <a:t>年次達成率</a:t>
            </a:r>
            <a:endParaRPr lang="en-US" altLang="ja-JP" sz="1000" dirty="0">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531807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97A206F-A3CA-0FAF-6ED0-7C1A375CC6F1}"/>
              </a:ext>
            </a:extLst>
          </p:cNvPr>
          <p:cNvSpPr txBox="1"/>
          <p:nvPr/>
        </p:nvSpPr>
        <p:spPr>
          <a:xfrm>
            <a:off x="2174492" y="262458"/>
            <a:ext cx="2509021" cy="276999"/>
          </a:xfrm>
          <a:prstGeom prst="rect">
            <a:avLst/>
          </a:prstGeom>
          <a:noFill/>
        </p:spPr>
        <p:txBody>
          <a:bodyPr wrap="none" rtlCol="0">
            <a:spAutoFit/>
          </a:bodyPr>
          <a:lstStyle/>
          <a:p>
            <a:pPr algn="ctr"/>
            <a:r>
              <a:rPr lang="en-US" altLang="ja-JP" sz="1200" dirty="0">
                <a:latin typeface="Meiryo" panose="020B0604030504040204" pitchFamily="34" charset="-128"/>
                <a:ea typeface="Meiryo" panose="020B0604030504040204" pitchFamily="34" charset="-128"/>
              </a:rPr>
              <a:t>③</a:t>
            </a:r>
            <a:r>
              <a:rPr lang="en" altLang="ja-JP" sz="1200" dirty="0">
                <a:latin typeface="Meiryo" panose="020B0604030504040204" pitchFamily="34" charset="-128"/>
                <a:ea typeface="Meiryo" panose="020B0604030504040204" pitchFamily="34" charset="-128"/>
              </a:rPr>
              <a:t>【</a:t>
            </a:r>
            <a:r>
              <a:rPr lang="ja-JP" altLang="en-US" sz="1200">
                <a:latin typeface="Meiryo" panose="020B0604030504040204" pitchFamily="34" charset="-128"/>
                <a:ea typeface="Meiryo" panose="020B0604030504040204" pitchFamily="34" charset="-128"/>
              </a:rPr>
              <a:t>デザインイメージ</a:t>
            </a:r>
            <a:r>
              <a:rPr lang="en-US" altLang="ja-JP" sz="1200" dirty="0">
                <a:latin typeface="Meiryo" panose="020B0604030504040204" pitchFamily="34" charset="-128"/>
                <a:ea typeface="Meiryo" panose="020B0604030504040204" pitchFamily="34" charset="-128"/>
              </a:rPr>
              <a:t> / Figma</a:t>
            </a:r>
            <a:r>
              <a:rPr lang="en" altLang="ja-JP" sz="1200" dirty="0">
                <a:latin typeface="Meiryo" panose="020B0604030504040204" pitchFamily="34" charset="-128"/>
                <a:ea typeface="Meiryo" panose="020B0604030504040204" pitchFamily="34" charset="-128"/>
              </a:rPr>
              <a:t>】</a:t>
            </a:r>
          </a:p>
        </p:txBody>
      </p:sp>
      <p:pic>
        <p:nvPicPr>
          <p:cNvPr id="6" name="図 5" descr="グラフィカル ユーザー インターフェイス, アプリケーション, テーブル&#10;&#10;AI 生成コンテンツは誤りを含む可能性があります。">
            <a:extLst>
              <a:ext uri="{FF2B5EF4-FFF2-40B4-BE49-F238E27FC236}">
                <a16:creationId xmlns:a16="http://schemas.microsoft.com/office/drawing/2014/main" id="{2D4B4FB6-AA81-4575-0CB1-FC32B77D5601}"/>
              </a:ext>
            </a:extLst>
          </p:cNvPr>
          <p:cNvPicPr>
            <a:picLocks noChangeAspect="1"/>
          </p:cNvPicPr>
          <p:nvPr/>
        </p:nvPicPr>
        <p:blipFill>
          <a:blip r:embed="rId2"/>
          <a:stretch>
            <a:fillRect/>
          </a:stretch>
        </p:blipFill>
        <p:spPr>
          <a:xfrm>
            <a:off x="147782" y="803543"/>
            <a:ext cx="3236631" cy="2331068"/>
          </a:xfrm>
          <a:prstGeom prst="rect">
            <a:avLst/>
          </a:prstGeom>
        </p:spPr>
      </p:pic>
      <p:pic>
        <p:nvPicPr>
          <p:cNvPr id="8" name="図 7" descr="グラフィカル ユーザー インターフェイス, アプリケーション, テーブル, Excel&#10;&#10;AI 生成コンテンツは誤りを含む可能性があります。">
            <a:extLst>
              <a:ext uri="{FF2B5EF4-FFF2-40B4-BE49-F238E27FC236}">
                <a16:creationId xmlns:a16="http://schemas.microsoft.com/office/drawing/2014/main" id="{5CC93D2C-D99D-1A36-4FE0-360BF8016EA5}"/>
              </a:ext>
            </a:extLst>
          </p:cNvPr>
          <p:cNvPicPr>
            <a:picLocks noChangeAspect="1"/>
          </p:cNvPicPr>
          <p:nvPr/>
        </p:nvPicPr>
        <p:blipFill>
          <a:blip r:embed="rId3"/>
          <a:stretch>
            <a:fillRect/>
          </a:stretch>
        </p:blipFill>
        <p:spPr>
          <a:xfrm>
            <a:off x="3512058" y="803544"/>
            <a:ext cx="3198160" cy="2331067"/>
          </a:xfrm>
          <a:prstGeom prst="rect">
            <a:avLst/>
          </a:prstGeom>
        </p:spPr>
      </p:pic>
      <p:cxnSp>
        <p:nvCxnSpPr>
          <p:cNvPr id="10" name="直線矢印コネクタ 9">
            <a:extLst>
              <a:ext uri="{FF2B5EF4-FFF2-40B4-BE49-F238E27FC236}">
                <a16:creationId xmlns:a16="http://schemas.microsoft.com/office/drawing/2014/main" id="{5265D5BA-4615-C3F6-F447-5AFA1888CAA5}"/>
              </a:ext>
            </a:extLst>
          </p:cNvPr>
          <p:cNvCxnSpPr>
            <a:cxnSpLocks/>
          </p:cNvCxnSpPr>
          <p:nvPr/>
        </p:nvCxnSpPr>
        <p:spPr>
          <a:xfrm>
            <a:off x="2893222" y="3190524"/>
            <a:ext cx="111760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CD68543E-50AA-D9A6-5D56-2D9807C50CD4}"/>
              </a:ext>
            </a:extLst>
          </p:cNvPr>
          <p:cNvSpPr txBox="1"/>
          <p:nvPr/>
        </p:nvSpPr>
        <p:spPr>
          <a:xfrm>
            <a:off x="1598852" y="3172052"/>
            <a:ext cx="1107997" cy="215444"/>
          </a:xfrm>
          <a:prstGeom prst="rect">
            <a:avLst/>
          </a:prstGeom>
          <a:noFill/>
        </p:spPr>
        <p:txBody>
          <a:bodyPr wrap="none" rtlCol="0">
            <a:spAutoFit/>
          </a:bodyPr>
          <a:lstStyle/>
          <a:p>
            <a:pPr algn="ctr"/>
            <a:r>
              <a:rPr kumimoji="1" lang="en-US" altLang="ja-JP" sz="800" dirty="0">
                <a:latin typeface="Meiryo" panose="020B0604030504040204" pitchFamily="34" charset="-128"/>
                <a:ea typeface="Meiryo" panose="020B0604030504040204" pitchFamily="34" charset="-128"/>
              </a:rPr>
              <a:t>『</a:t>
            </a:r>
            <a:r>
              <a:rPr kumimoji="1" lang="ja-JP" altLang="en-US" sz="800">
                <a:latin typeface="Meiryo" panose="020B0604030504040204" pitchFamily="34" charset="-128"/>
                <a:ea typeface="Meiryo" panose="020B0604030504040204" pitchFamily="34" charset="-128"/>
              </a:rPr>
              <a:t>追加表示</a:t>
            </a:r>
            <a:r>
              <a:rPr kumimoji="1" lang="en-US" altLang="ja-JP" sz="800" dirty="0">
                <a:latin typeface="Meiryo" panose="020B0604030504040204" pitchFamily="34" charset="-128"/>
                <a:ea typeface="Meiryo" panose="020B0604030504040204" pitchFamily="34" charset="-128"/>
              </a:rPr>
              <a:t>』</a:t>
            </a:r>
            <a:r>
              <a:rPr kumimoji="1" lang="ja-JP" altLang="en-US" sz="800">
                <a:latin typeface="Meiryo" panose="020B0604030504040204" pitchFamily="34" charset="-128"/>
                <a:ea typeface="Meiryo" panose="020B0604030504040204" pitchFamily="34" charset="-128"/>
              </a:rPr>
              <a:t>ボタン</a:t>
            </a:r>
          </a:p>
        </p:txBody>
      </p:sp>
      <p:cxnSp>
        <p:nvCxnSpPr>
          <p:cNvPr id="13" name="直線矢印コネクタ 12">
            <a:extLst>
              <a:ext uri="{FF2B5EF4-FFF2-40B4-BE49-F238E27FC236}">
                <a16:creationId xmlns:a16="http://schemas.microsoft.com/office/drawing/2014/main" id="{ADF5AAFB-27A1-2AAA-32C1-E140B3A2E82F}"/>
              </a:ext>
            </a:extLst>
          </p:cNvPr>
          <p:cNvCxnSpPr>
            <a:cxnSpLocks/>
          </p:cNvCxnSpPr>
          <p:nvPr/>
        </p:nvCxnSpPr>
        <p:spPr>
          <a:xfrm flipH="1">
            <a:off x="2893222" y="3327464"/>
            <a:ext cx="111760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5">
            <a:extLst>
              <a:ext uri="{FF2B5EF4-FFF2-40B4-BE49-F238E27FC236}">
                <a16:creationId xmlns:a16="http://schemas.microsoft.com/office/drawing/2014/main" id="{57A0589C-5547-A325-5642-CA4E4C400803}"/>
              </a:ext>
            </a:extLst>
          </p:cNvPr>
          <p:cNvSpPr txBox="1"/>
          <p:nvPr/>
        </p:nvSpPr>
        <p:spPr>
          <a:xfrm>
            <a:off x="4231713" y="3162816"/>
            <a:ext cx="1005404" cy="215444"/>
          </a:xfrm>
          <a:prstGeom prst="rect">
            <a:avLst/>
          </a:prstGeom>
          <a:noFill/>
        </p:spPr>
        <p:txBody>
          <a:bodyPr wrap="none" rtlCol="0">
            <a:spAutoFit/>
          </a:bodyPr>
          <a:lstStyle/>
          <a:p>
            <a:pPr algn="ctr"/>
            <a:r>
              <a:rPr kumimoji="1" lang="en-US" altLang="ja-JP" sz="800" dirty="0">
                <a:latin typeface="Meiryo" panose="020B0604030504040204" pitchFamily="34" charset="-128"/>
                <a:ea typeface="Meiryo" panose="020B0604030504040204" pitchFamily="34" charset="-128"/>
              </a:rPr>
              <a:t>『</a:t>
            </a:r>
            <a:r>
              <a:rPr kumimoji="1" lang="ja-JP" altLang="en-US" sz="800">
                <a:latin typeface="Meiryo" panose="020B0604030504040204" pitchFamily="34" charset="-128"/>
                <a:ea typeface="Meiryo" panose="020B0604030504040204" pitchFamily="34" charset="-128"/>
              </a:rPr>
              <a:t>閉じる</a:t>
            </a:r>
            <a:r>
              <a:rPr kumimoji="1" lang="en-US" altLang="ja-JP" sz="800" dirty="0">
                <a:latin typeface="Meiryo" panose="020B0604030504040204" pitchFamily="34" charset="-128"/>
                <a:ea typeface="Meiryo" panose="020B0604030504040204" pitchFamily="34" charset="-128"/>
              </a:rPr>
              <a:t>』</a:t>
            </a:r>
            <a:r>
              <a:rPr kumimoji="1" lang="ja-JP" altLang="en-US" sz="800">
                <a:latin typeface="Meiryo" panose="020B0604030504040204" pitchFamily="34" charset="-128"/>
                <a:ea typeface="Meiryo" panose="020B0604030504040204" pitchFamily="34" charset="-128"/>
              </a:rPr>
              <a:t>ボタン</a:t>
            </a:r>
          </a:p>
        </p:txBody>
      </p:sp>
      <p:sp>
        <p:nvSpPr>
          <p:cNvPr id="17" name="テキスト ボックス 16">
            <a:extLst>
              <a:ext uri="{FF2B5EF4-FFF2-40B4-BE49-F238E27FC236}">
                <a16:creationId xmlns:a16="http://schemas.microsoft.com/office/drawing/2014/main" id="{B23AD43C-4D51-AE0A-9CEF-B82BB5F990A7}"/>
              </a:ext>
            </a:extLst>
          </p:cNvPr>
          <p:cNvSpPr txBox="1"/>
          <p:nvPr/>
        </p:nvSpPr>
        <p:spPr>
          <a:xfrm>
            <a:off x="1951672" y="3461389"/>
            <a:ext cx="2954655" cy="338554"/>
          </a:xfrm>
          <a:prstGeom prst="rect">
            <a:avLst/>
          </a:prstGeom>
          <a:noFill/>
        </p:spPr>
        <p:txBody>
          <a:bodyPr wrap="none" rtlCol="0">
            <a:spAutoFit/>
          </a:bodyPr>
          <a:lstStyle/>
          <a:p>
            <a:pPr algn="ctr"/>
            <a:r>
              <a:rPr kumimoji="1" lang="en-US" altLang="ja-JP" sz="800" dirty="0">
                <a:latin typeface="Meiryo" panose="020B0604030504040204" pitchFamily="34" charset="-128"/>
                <a:ea typeface="Meiryo" panose="020B0604030504040204" pitchFamily="34" charset="-128"/>
              </a:rPr>
              <a:t>daily bar</a:t>
            </a:r>
            <a:r>
              <a:rPr kumimoji="1" lang="ja-JP" altLang="en-US" sz="800">
                <a:latin typeface="Meiryo" panose="020B0604030504040204" pitchFamily="34" charset="-128"/>
                <a:ea typeface="Meiryo" panose="020B0604030504040204" pitchFamily="34" charset="-128"/>
              </a:rPr>
              <a:t>デフォルト表示は日次のみだが</a:t>
            </a:r>
            <a:endParaRPr kumimoji="1" lang="en-US" altLang="ja-JP" sz="800" dirty="0">
              <a:latin typeface="Meiryo" panose="020B0604030504040204" pitchFamily="34" charset="-128"/>
              <a:ea typeface="Meiryo" panose="020B0604030504040204" pitchFamily="34" charset="-128"/>
            </a:endParaRPr>
          </a:p>
          <a:p>
            <a:pPr algn="ctr"/>
            <a:r>
              <a:rPr kumimoji="1" lang="en-US" altLang="ja-JP" sz="800" dirty="0">
                <a:latin typeface="Meiryo" panose="020B0604030504040204" pitchFamily="34" charset="-128"/>
                <a:ea typeface="Meiryo" panose="020B0604030504040204" pitchFamily="34" charset="-128"/>
              </a:rPr>
              <a:t>『</a:t>
            </a:r>
            <a:r>
              <a:rPr kumimoji="1" lang="ja-JP" altLang="en-US" sz="800">
                <a:latin typeface="Meiryo" panose="020B0604030504040204" pitchFamily="34" charset="-128"/>
                <a:ea typeface="Meiryo" panose="020B0604030504040204" pitchFamily="34" charset="-128"/>
              </a:rPr>
              <a:t>追加表示</a:t>
            </a:r>
            <a:r>
              <a:rPr kumimoji="1" lang="en-US" altLang="ja-JP" sz="800" dirty="0">
                <a:latin typeface="Meiryo" panose="020B0604030504040204" pitchFamily="34" charset="-128"/>
                <a:ea typeface="Meiryo" panose="020B0604030504040204" pitchFamily="34" charset="-128"/>
              </a:rPr>
              <a:t>』</a:t>
            </a:r>
            <a:r>
              <a:rPr kumimoji="1" lang="ja-JP" altLang="en-US" sz="800">
                <a:latin typeface="Meiryo" panose="020B0604030504040204" pitchFamily="34" charset="-128"/>
                <a:ea typeface="Meiryo" panose="020B0604030504040204" pitchFamily="34" charset="-128"/>
              </a:rPr>
              <a:t>ボタンを押すと、月次・年次の領域が出てくる</a:t>
            </a:r>
          </a:p>
        </p:txBody>
      </p:sp>
      <p:sp>
        <p:nvSpPr>
          <p:cNvPr id="18" name="フレーム 17">
            <a:extLst>
              <a:ext uri="{FF2B5EF4-FFF2-40B4-BE49-F238E27FC236}">
                <a16:creationId xmlns:a16="http://schemas.microsoft.com/office/drawing/2014/main" id="{F30911E3-0B91-373C-E156-4EFD8BF52E59}"/>
              </a:ext>
            </a:extLst>
          </p:cNvPr>
          <p:cNvSpPr>
            <a:spLocks/>
          </p:cNvSpPr>
          <p:nvPr/>
        </p:nvSpPr>
        <p:spPr>
          <a:xfrm>
            <a:off x="1070112" y="1667635"/>
            <a:ext cx="1318591" cy="215348"/>
          </a:xfrm>
          <a:prstGeom prst="frame">
            <a:avLst>
              <a:gd name="adj1" fmla="val 0"/>
            </a:avLst>
          </a:prstGeom>
          <a:noFill/>
          <a:ln w="952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cxnSp>
        <p:nvCxnSpPr>
          <p:cNvPr id="20" name="直線矢印コネクタ 19">
            <a:extLst>
              <a:ext uri="{FF2B5EF4-FFF2-40B4-BE49-F238E27FC236}">
                <a16:creationId xmlns:a16="http://schemas.microsoft.com/office/drawing/2014/main" id="{56C5B5EC-9D32-3FEB-362A-EBD27260CFF1}"/>
              </a:ext>
            </a:extLst>
          </p:cNvPr>
          <p:cNvCxnSpPr>
            <a:cxnSpLocks/>
            <a:stCxn id="25" idx="0"/>
          </p:cNvCxnSpPr>
          <p:nvPr/>
        </p:nvCxnSpPr>
        <p:spPr>
          <a:xfrm flipH="1" flipV="1">
            <a:off x="2259496" y="2085078"/>
            <a:ext cx="483675" cy="312534"/>
          </a:xfrm>
          <a:prstGeom prst="straightConnector1">
            <a:avLst/>
          </a:prstGeom>
          <a:ln w="952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24">
            <a:extLst>
              <a:ext uri="{FF2B5EF4-FFF2-40B4-BE49-F238E27FC236}">
                <a16:creationId xmlns:a16="http://schemas.microsoft.com/office/drawing/2014/main" id="{9BDBFE04-B5A9-DDA5-5A2E-60A7B009D1A6}"/>
              </a:ext>
            </a:extLst>
          </p:cNvPr>
          <p:cNvSpPr txBox="1">
            <a:spLocks/>
          </p:cNvSpPr>
          <p:nvPr/>
        </p:nvSpPr>
        <p:spPr>
          <a:xfrm>
            <a:off x="2425616" y="2397612"/>
            <a:ext cx="635110" cy="215444"/>
          </a:xfrm>
          <a:prstGeom prst="rect">
            <a:avLst/>
          </a:prstGeom>
          <a:noFill/>
        </p:spPr>
        <p:txBody>
          <a:bodyPr wrap="none" rtlCol="0">
            <a:spAutoFit/>
          </a:bodyPr>
          <a:lstStyle/>
          <a:p>
            <a:pPr algn="ctr"/>
            <a:r>
              <a:rPr kumimoji="1" lang="en-US" altLang="ja-JP" sz="800" dirty="0">
                <a:latin typeface="Meiryo" panose="020B0604030504040204" pitchFamily="34" charset="-128"/>
                <a:ea typeface="Meiryo" panose="020B0604030504040204" pitchFamily="34" charset="-128"/>
              </a:rPr>
              <a:t>Daily Bar</a:t>
            </a:r>
            <a:endParaRPr kumimoji="1" lang="ja-JP" altLang="en-US" sz="800">
              <a:latin typeface="Meiryo" panose="020B0604030504040204" pitchFamily="34" charset="-128"/>
              <a:ea typeface="Meiryo" panose="020B0604030504040204" pitchFamily="34" charset="-128"/>
            </a:endParaRPr>
          </a:p>
        </p:txBody>
      </p:sp>
      <p:cxnSp>
        <p:nvCxnSpPr>
          <p:cNvPr id="27" name="直線矢印コネクタ 26">
            <a:extLst>
              <a:ext uri="{FF2B5EF4-FFF2-40B4-BE49-F238E27FC236}">
                <a16:creationId xmlns:a16="http://schemas.microsoft.com/office/drawing/2014/main" id="{3CF71132-935E-2186-55FF-FE7CDD910D62}"/>
              </a:ext>
            </a:extLst>
          </p:cNvPr>
          <p:cNvCxnSpPr>
            <a:cxnSpLocks/>
            <a:stCxn id="30" idx="0"/>
          </p:cNvCxnSpPr>
          <p:nvPr/>
        </p:nvCxnSpPr>
        <p:spPr>
          <a:xfrm flipV="1">
            <a:off x="632796" y="1775309"/>
            <a:ext cx="437316" cy="250592"/>
          </a:xfrm>
          <a:prstGeom prst="straightConnector1">
            <a:avLst/>
          </a:prstGeom>
          <a:ln w="952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01186E27-59E2-637B-076E-BF731380BD3D}"/>
              </a:ext>
            </a:extLst>
          </p:cNvPr>
          <p:cNvSpPr txBox="1">
            <a:spLocks/>
          </p:cNvSpPr>
          <p:nvPr/>
        </p:nvSpPr>
        <p:spPr>
          <a:xfrm>
            <a:off x="161352" y="2025901"/>
            <a:ext cx="942887" cy="215444"/>
          </a:xfrm>
          <a:prstGeom prst="rect">
            <a:avLst/>
          </a:prstGeom>
          <a:noFill/>
        </p:spPr>
        <p:txBody>
          <a:bodyPr wrap="none" rtlCol="0">
            <a:spAutoFit/>
          </a:bodyPr>
          <a:lstStyle/>
          <a:p>
            <a:pPr algn="ctr"/>
            <a:r>
              <a:rPr kumimoji="1" lang="ja-JP" altLang="en-US" sz="800">
                <a:latin typeface="Meiryo" panose="020B0604030504040204" pitchFamily="34" charset="-128"/>
                <a:ea typeface="Meiryo" panose="020B0604030504040204" pitchFamily="34" charset="-128"/>
              </a:rPr>
              <a:t>虫眼鏡</a:t>
            </a:r>
            <a:r>
              <a:rPr kumimoji="1" lang="en-US" altLang="ja-JP" sz="800" dirty="0">
                <a:latin typeface="Meiryo" panose="020B0604030504040204" pitchFamily="34" charset="-128"/>
                <a:ea typeface="Meiryo" panose="020B0604030504040204" pitchFamily="34" charset="-128"/>
              </a:rPr>
              <a:t>Daily Bar</a:t>
            </a:r>
            <a:endParaRPr kumimoji="1" lang="ja-JP" altLang="en-US" sz="800">
              <a:latin typeface="Meiryo" panose="020B0604030504040204" pitchFamily="34" charset="-128"/>
              <a:ea typeface="Meiryo" panose="020B0604030504040204" pitchFamily="34" charset="-128"/>
            </a:endParaRPr>
          </a:p>
        </p:txBody>
      </p:sp>
      <p:pic>
        <p:nvPicPr>
          <p:cNvPr id="33" name="図 32" descr="テーブル&#10;&#10;AI 生成コンテンツは誤りを含む可能性があります。">
            <a:extLst>
              <a:ext uri="{FF2B5EF4-FFF2-40B4-BE49-F238E27FC236}">
                <a16:creationId xmlns:a16="http://schemas.microsoft.com/office/drawing/2014/main" id="{0D7A9C37-F83D-034B-5AA1-EE8991D5BA8E}"/>
              </a:ext>
            </a:extLst>
          </p:cNvPr>
          <p:cNvPicPr>
            <a:picLocks noChangeAspect="1"/>
          </p:cNvPicPr>
          <p:nvPr/>
        </p:nvPicPr>
        <p:blipFill>
          <a:blip r:embed="rId4"/>
          <a:stretch>
            <a:fillRect/>
          </a:stretch>
        </p:blipFill>
        <p:spPr>
          <a:xfrm>
            <a:off x="176549" y="4487610"/>
            <a:ext cx="3169395" cy="2312693"/>
          </a:xfrm>
          <a:prstGeom prst="rect">
            <a:avLst/>
          </a:prstGeom>
        </p:spPr>
      </p:pic>
      <p:pic>
        <p:nvPicPr>
          <p:cNvPr id="35" name="図 34" descr="テーブル&#10;&#10;AI 生成コンテンツは誤りを含む可能性があります。">
            <a:extLst>
              <a:ext uri="{FF2B5EF4-FFF2-40B4-BE49-F238E27FC236}">
                <a16:creationId xmlns:a16="http://schemas.microsoft.com/office/drawing/2014/main" id="{95F8A94D-F7FC-2FE5-6CD3-9F7EDC9AD4C2}"/>
              </a:ext>
            </a:extLst>
          </p:cNvPr>
          <p:cNvPicPr>
            <a:picLocks noChangeAspect="1"/>
          </p:cNvPicPr>
          <p:nvPr/>
        </p:nvPicPr>
        <p:blipFill>
          <a:blip r:embed="rId5"/>
          <a:stretch>
            <a:fillRect/>
          </a:stretch>
        </p:blipFill>
        <p:spPr>
          <a:xfrm>
            <a:off x="3526125" y="4512378"/>
            <a:ext cx="3169393" cy="2297710"/>
          </a:xfrm>
          <a:prstGeom prst="rect">
            <a:avLst/>
          </a:prstGeom>
        </p:spPr>
      </p:pic>
      <p:sp>
        <p:nvSpPr>
          <p:cNvPr id="36" name="テキスト ボックス 35">
            <a:extLst>
              <a:ext uri="{FF2B5EF4-FFF2-40B4-BE49-F238E27FC236}">
                <a16:creationId xmlns:a16="http://schemas.microsoft.com/office/drawing/2014/main" id="{45098D45-BD2A-305C-C319-258926B1B757}"/>
              </a:ext>
            </a:extLst>
          </p:cNvPr>
          <p:cNvSpPr txBox="1"/>
          <p:nvPr/>
        </p:nvSpPr>
        <p:spPr>
          <a:xfrm>
            <a:off x="2801269" y="560389"/>
            <a:ext cx="1255472" cy="215444"/>
          </a:xfrm>
          <a:prstGeom prst="rect">
            <a:avLst/>
          </a:prstGeom>
          <a:noFill/>
        </p:spPr>
        <p:txBody>
          <a:bodyPr wrap="none" rtlCol="0">
            <a:spAutoFit/>
          </a:bodyPr>
          <a:lstStyle/>
          <a:p>
            <a:pPr algn="ctr"/>
            <a:r>
              <a:rPr kumimoji="1" lang="en-US" altLang="ja-JP" sz="800" dirty="0">
                <a:latin typeface="Meiryo" panose="020B0604030504040204" pitchFamily="34" charset="-128"/>
                <a:ea typeface="Meiryo" panose="020B0604030504040204" pitchFamily="34" charset="-128"/>
              </a:rPr>
              <a:t>1. </a:t>
            </a:r>
            <a:r>
              <a:rPr kumimoji="1" lang="ja-JP" altLang="en-US" sz="800">
                <a:latin typeface="Meiryo" panose="020B0604030504040204" pitchFamily="34" charset="-128"/>
                <a:ea typeface="Meiryo" panose="020B0604030504040204" pitchFamily="34" charset="-128"/>
              </a:rPr>
              <a:t>基本画面</a:t>
            </a:r>
            <a:r>
              <a:rPr kumimoji="1" lang="en-US" altLang="ja-JP" sz="800" dirty="0">
                <a:latin typeface="Meiryo" panose="020B0604030504040204" pitchFamily="34" charset="-128"/>
                <a:ea typeface="Meiryo" panose="020B0604030504040204" pitchFamily="34" charset="-128"/>
              </a:rPr>
              <a:t> : </a:t>
            </a:r>
            <a:r>
              <a:rPr kumimoji="1" lang="ja-JP" altLang="en-US" sz="800">
                <a:latin typeface="Meiryo" panose="020B0604030504040204" pitchFamily="34" charset="-128"/>
                <a:ea typeface="Meiryo" panose="020B0604030504040204" pitchFamily="34" charset="-128"/>
              </a:rPr>
              <a:t>年次画面</a:t>
            </a:r>
          </a:p>
        </p:txBody>
      </p:sp>
      <p:sp>
        <p:nvSpPr>
          <p:cNvPr id="37" name="テキスト ボックス 36">
            <a:extLst>
              <a:ext uri="{FF2B5EF4-FFF2-40B4-BE49-F238E27FC236}">
                <a16:creationId xmlns:a16="http://schemas.microsoft.com/office/drawing/2014/main" id="{66B1EB1D-7CAE-C2FF-DB72-CA9138BB615C}"/>
              </a:ext>
            </a:extLst>
          </p:cNvPr>
          <p:cNvSpPr txBox="1"/>
          <p:nvPr/>
        </p:nvSpPr>
        <p:spPr>
          <a:xfrm>
            <a:off x="3067762" y="4286643"/>
            <a:ext cx="729687" cy="215444"/>
          </a:xfrm>
          <a:prstGeom prst="rect">
            <a:avLst/>
          </a:prstGeom>
          <a:noFill/>
        </p:spPr>
        <p:txBody>
          <a:bodyPr wrap="none" rtlCol="0">
            <a:spAutoFit/>
          </a:bodyPr>
          <a:lstStyle/>
          <a:p>
            <a:pPr algn="ctr"/>
            <a:r>
              <a:rPr kumimoji="1" lang="en-US" altLang="ja-JP" sz="800" dirty="0">
                <a:latin typeface="Meiryo" panose="020B0604030504040204" pitchFamily="34" charset="-128"/>
                <a:ea typeface="Meiryo" panose="020B0604030504040204" pitchFamily="34" charset="-128"/>
              </a:rPr>
              <a:t>2. </a:t>
            </a:r>
            <a:r>
              <a:rPr kumimoji="1" lang="ja-JP" altLang="en-US" sz="800">
                <a:latin typeface="Meiryo" panose="020B0604030504040204" pitchFamily="34" charset="-128"/>
                <a:ea typeface="Meiryo" panose="020B0604030504040204" pitchFamily="34" charset="-128"/>
              </a:rPr>
              <a:t>月次画面</a:t>
            </a:r>
          </a:p>
        </p:txBody>
      </p:sp>
      <p:pic>
        <p:nvPicPr>
          <p:cNvPr id="39" name="図 38" descr="テーブル&#10;&#10;AI 生成コンテンツは誤りを含む可能性があります。">
            <a:extLst>
              <a:ext uri="{FF2B5EF4-FFF2-40B4-BE49-F238E27FC236}">
                <a16:creationId xmlns:a16="http://schemas.microsoft.com/office/drawing/2014/main" id="{C89AD02D-180F-ED23-4170-0B7EE4A63BE5}"/>
              </a:ext>
            </a:extLst>
          </p:cNvPr>
          <p:cNvPicPr>
            <a:picLocks noChangeAspect="1"/>
          </p:cNvPicPr>
          <p:nvPr/>
        </p:nvPicPr>
        <p:blipFill>
          <a:blip r:embed="rId6"/>
          <a:stretch>
            <a:fillRect/>
          </a:stretch>
        </p:blipFill>
        <p:spPr>
          <a:xfrm>
            <a:off x="152615" y="7900417"/>
            <a:ext cx="3173888" cy="2312693"/>
          </a:xfrm>
          <a:prstGeom prst="rect">
            <a:avLst/>
          </a:prstGeom>
        </p:spPr>
      </p:pic>
      <p:pic>
        <p:nvPicPr>
          <p:cNvPr id="41" name="図 40" descr="テーブル&#10;&#10;AI 生成コンテンツは誤りを含む可能性があります。">
            <a:extLst>
              <a:ext uri="{FF2B5EF4-FFF2-40B4-BE49-F238E27FC236}">
                <a16:creationId xmlns:a16="http://schemas.microsoft.com/office/drawing/2014/main" id="{839BE2F1-24E2-4BBB-239E-44705EB9F728}"/>
              </a:ext>
            </a:extLst>
          </p:cNvPr>
          <p:cNvPicPr>
            <a:picLocks noChangeAspect="1"/>
          </p:cNvPicPr>
          <p:nvPr/>
        </p:nvPicPr>
        <p:blipFill>
          <a:blip r:embed="rId7"/>
          <a:stretch>
            <a:fillRect/>
          </a:stretch>
        </p:blipFill>
        <p:spPr>
          <a:xfrm>
            <a:off x="3526125" y="7900417"/>
            <a:ext cx="3168421" cy="2297710"/>
          </a:xfrm>
          <a:prstGeom prst="rect">
            <a:avLst/>
          </a:prstGeom>
        </p:spPr>
      </p:pic>
      <p:sp>
        <p:nvSpPr>
          <p:cNvPr id="42" name="テキスト ボックス 41">
            <a:extLst>
              <a:ext uri="{FF2B5EF4-FFF2-40B4-BE49-F238E27FC236}">
                <a16:creationId xmlns:a16="http://schemas.microsoft.com/office/drawing/2014/main" id="{A3CBFC6E-15A2-9019-D398-7D7B90304619}"/>
              </a:ext>
            </a:extLst>
          </p:cNvPr>
          <p:cNvSpPr txBox="1"/>
          <p:nvPr/>
        </p:nvSpPr>
        <p:spPr>
          <a:xfrm>
            <a:off x="1363217" y="6845364"/>
            <a:ext cx="1579278" cy="215444"/>
          </a:xfrm>
          <a:prstGeom prst="rect">
            <a:avLst/>
          </a:prstGeom>
          <a:noFill/>
        </p:spPr>
        <p:txBody>
          <a:bodyPr wrap="none" rtlCol="0">
            <a:spAutoFit/>
          </a:bodyPr>
          <a:lstStyle/>
          <a:p>
            <a:pPr algn="ctr"/>
            <a:r>
              <a:rPr kumimoji="1" lang="ja-JP" altLang="en-US" sz="800">
                <a:latin typeface="Meiryo" panose="020B0604030504040204" pitchFamily="34" charset="-128"/>
                <a:ea typeface="Meiryo" panose="020B0604030504040204" pitchFamily="34" charset="-128"/>
              </a:rPr>
              <a:t>月次表記</a:t>
            </a:r>
            <a:r>
              <a:rPr kumimoji="1" lang="en-US" altLang="ja-JP" sz="800" dirty="0">
                <a:latin typeface="Meiryo" panose="020B0604030504040204" pitchFamily="34" charset="-128"/>
                <a:ea typeface="Meiryo" panose="020B0604030504040204" pitchFamily="34" charset="-128"/>
              </a:rPr>
              <a:t> </a:t>
            </a:r>
            <a:r>
              <a:rPr kumimoji="1" lang="ja-JP" altLang="en-US" sz="800">
                <a:latin typeface="Meiryo" panose="020B0604030504040204" pitchFamily="34" charset="-128"/>
                <a:ea typeface="Meiryo" panose="020B0604030504040204" pitchFamily="34" charset="-128"/>
              </a:rPr>
              <a:t>虫眼鏡</a:t>
            </a:r>
            <a:r>
              <a:rPr kumimoji="1" lang="en-US" altLang="ja-JP" sz="800" dirty="0">
                <a:latin typeface="Meiryo" panose="020B0604030504040204" pitchFamily="34" charset="-128"/>
                <a:ea typeface="Meiryo" panose="020B0604030504040204" pitchFamily="34" charset="-128"/>
              </a:rPr>
              <a:t>daily Bar</a:t>
            </a:r>
            <a:r>
              <a:rPr kumimoji="1" lang="ja-JP" altLang="en-US" sz="800">
                <a:latin typeface="Meiryo" panose="020B0604030504040204" pitchFamily="34" charset="-128"/>
                <a:ea typeface="Meiryo" panose="020B0604030504040204" pitchFamily="34" charset="-128"/>
              </a:rPr>
              <a:t>左端</a:t>
            </a:r>
          </a:p>
        </p:txBody>
      </p:sp>
      <p:sp>
        <p:nvSpPr>
          <p:cNvPr id="43" name="テキスト ボックス 42">
            <a:extLst>
              <a:ext uri="{FF2B5EF4-FFF2-40B4-BE49-F238E27FC236}">
                <a16:creationId xmlns:a16="http://schemas.microsoft.com/office/drawing/2014/main" id="{0265AEB9-73CA-8CBB-F1D1-EB9FAB55B50F}"/>
              </a:ext>
            </a:extLst>
          </p:cNvPr>
          <p:cNvSpPr txBox="1"/>
          <p:nvPr/>
        </p:nvSpPr>
        <p:spPr>
          <a:xfrm>
            <a:off x="4111487" y="6845364"/>
            <a:ext cx="1819729" cy="215444"/>
          </a:xfrm>
          <a:prstGeom prst="rect">
            <a:avLst/>
          </a:prstGeom>
          <a:noFill/>
        </p:spPr>
        <p:txBody>
          <a:bodyPr wrap="none" rtlCol="0">
            <a:spAutoFit/>
          </a:bodyPr>
          <a:lstStyle/>
          <a:p>
            <a:pPr algn="ctr"/>
            <a:r>
              <a:rPr kumimoji="1" lang="ja-JP" altLang="en-US" sz="800">
                <a:latin typeface="Meiryo" panose="020B0604030504040204" pitchFamily="34" charset="-128"/>
                <a:ea typeface="Meiryo" panose="020B0604030504040204" pitchFamily="34" charset="-128"/>
              </a:rPr>
              <a:t>月次表記</a:t>
            </a:r>
            <a:r>
              <a:rPr kumimoji="1" lang="en-US" altLang="ja-JP" sz="800" dirty="0">
                <a:latin typeface="Meiryo" panose="020B0604030504040204" pitchFamily="34" charset="-128"/>
                <a:ea typeface="Meiryo" panose="020B0604030504040204" pitchFamily="34" charset="-128"/>
              </a:rPr>
              <a:t> </a:t>
            </a:r>
            <a:r>
              <a:rPr kumimoji="1" lang="ja-JP" altLang="en-US" sz="800">
                <a:latin typeface="Meiryo" panose="020B0604030504040204" pitchFamily="34" charset="-128"/>
                <a:ea typeface="Meiryo" panose="020B0604030504040204" pitchFamily="34" charset="-128"/>
              </a:rPr>
              <a:t>虫眼鏡</a:t>
            </a:r>
            <a:r>
              <a:rPr kumimoji="1" lang="en-US" altLang="ja-JP" sz="800" dirty="0">
                <a:latin typeface="Meiryo" panose="020B0604030504040204" pitchFamily="34" charset="-128"/>
                <a:ea typeface="Meiryo" panose="020B0604030504040204" pitchFamily="34" charset="-128"/>
              </a:rPr>
              <a:t>daily Bar </a:t>
            </a:r>
            <a:r>
              <a:rPr kumimoji="1" lang="ja-JP" altLang="en-US" sz="800">
                <a:latin typeface="Meiryo" panose="020B0604030504040204" pitchFamily="34" charset="-128"/>
                <a:ea typeface="Meiryo" panose="020B0604030504040204" pitchFamily="34" charset="-128"/>
              </a:rPr>
              <a:t>中央より</a:t>
            </a:r>
          </a:p>
        </p:txBody>
      </p:sp>
      <p:cxnSp>
        <p:nvCxnSpPr>
          <p:cNvPr id="45" name="直線矢印コネクタ 44">
            <a:extLst>
              <a:ext uri="{FF2B5EF4-FFF2-40B4-BE49-F238E27FC236}">
                <a16:creationId xmlns:a16="http://schemas.microsoft.com/office/drawing/2014/main" id="{A8561A8F-BA1D-F53D-86E4-B1157015465E}"/>
              </a:ext>
            </a:extLst>
          </p:cNvPr>
          <p:cNvCxnSpPr>
            <a:cxnSpLocks/>
            <a:stCxn id="48" idx="0"/>
          </p:cNvCxnSpPr>
          <p:nvPr/>
        </p:nvCxnSpPr>
        <p:spPr>
          <a:xfrm flipH="1" flipV="1">
            <a:off x="329642" y="6520375"/>
            <a:ext cx="836277" cy="51181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48" name="テキスト ボックス 47">
            <a:extLst>
              <a:ext uri="{FF2B5EF4-FFF2-40B4-BE49-F238E27FC236}">
                <a16:creationId xmlns:a16="http://schemas.microsoft.com/office/drawing/2014/main" id="{253B2A1E-946A-EDC6-F774-FD39200A2AB2}"/>
              </a:ext>
            </a:extLst>
          </p:cNvPr>
          <p:cNvSpPr txBox="1"/>
          <p:nvPr/>
        </p:nvSpPr>
        <p:spPr>
          <a:xfrm>
            <a:off x="131020" y="7032185"/>
            <a:ext cx="2069797" cy="307777"/>
          </a:xfrm>
          <a:prstGeom prst="rect">
            <a:avLst/>
          </a:prstGeom>
          <a:noFill/>
        </p:spPr>
        <p:txBody>
          <a:bodyPr wrap="none" rtlCol="0">
            <a:spAutoFit/>
          </a:bodyPr>
          <a:lstStyle/>
          <a:p>
            <a:pPr algn="ctr"/>
            <a:r>
              <a:rPr kumimoji="1" lang="en-US" altLang="ja-JP" sz="700" dirty="0">
                <a:latin typeface="Meiryo" panose="020B0604030504040204" pitchFamily="34" charset="-128"/>
                <a:ea typeface="Meiryo" panose="020B0604030504040204" pitchFamily="34" charset="-128"/>
              </a:rPr>
              <a:t>Mac Finder</a:t>
            </a:r>
            <a:r>
              <a:rPr kumimoji="1" lang="ja-JP" altLang="en-US" sz="700">
                <a:latin typeface="Meiryo" panose="020B0604030504040204" pitchFamily="34" charset="-128"/>
                <a:ea typeface="Meiryo" panose="020B0604030504040204" pitchFamily="34" charset="-128"/>
              </a:rPr>
              <a:t>のギャラリー表記の様な仕様</a:t>
            </a:r>
            <a:endParaRPr kumimoji="1" lang="en-US" altLang="ja-JP" sz="700" dirty="0">
              <a:latin typeface="Meiryo" panose="020B0604030504040204" pitchFamily="34" charset="-128"/>
              <a:ea typeface="Meiryo" panose="020B0604030504040204" pitchFamily="34" charset="-128"/>
            </a:endParaRPr>
          </a:p>
          <a:p>
            <a:pPr algn="ctr"/>
            <a:r>
              <a:rPr kumimoji="1" lang="ja-JP" altLang="en-US" sz="700">
                <a:latin typeface="Meiryo" panose="020B0604030504040204" pitchFamily="34" charset="-128"/>
                <a:ea typeface="Meiryo" panose="020B0604030504040204" pitchFamily="34" charset="-128"/>
              </a:rPr>
              <a:t>前月、前々月、翌月、翌々月のシートが見える</a:t>
            </a:r>
          </a:p>
        </p:txBody>
      </p:sp>
      <p:cxnSp>
        <p:nvCxnSpPr>
          <p:cNvPr id="51" name="直線矢印コネクタ 50">
            <a:extLst>
              <a:ext uri="{FF2B5EF4-FFF2-40B4-BE49-F238E27FC236}">
                <a16:creationId xmlns:a16="http://schemas.microsoft.com/office/drawing/2014/main" id="{279D22DC-450E-1121-5110-11AB8EC1A85A}"/>
              </a:ext>
            </a:extLst>
          </p:cNvPr>
          <p:cNvCxnSpPr>
            <a:cxnSpLocks/>
            <a:stCxn id="48" idx="3"/>
          </p:cNvCxnSpPr>
          <p:nvPr/>
        </p:nvCxnSpPr>
        <p:spPr>
          <a:xfrm flipV="1">
            <a:off x="2200817" y="6421902"/>
            <a:ext cx="1442715" cy="764172"/>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54" name="テキスト ボックス 53">
            <a:extLst>
              <a:ext uri="{FF2B5EF4-FFF2-40B4-BE49-F238E27FC236}">
                <a16:creationId xmlns:a16="http://schemas.microsoft.com/office/drawing/2014/main" id="{D99BDEAA-2F0D-C896-756B-B3B9C6B7371A}"/>
              </a:ext>
            </a:extLst>
          </p:cNvPr>
          <p:cNvSpPr txBox="1"/>
          <p:nvPr/>
        </p:nvSpPr>
        <p:spPr>
          <a:xfrm>
            <a:off x="1131418" y="7645384"/>
            <a:ext cx="934871" cy="215444"/>
          </a:xfrm>
          <a:prstGeom prst="rect">
            <a:avLst/>
          </a:prstGeom>
          <a:noFill/>
        </p:spPr>
        <p:txBody>
          <a:bodyPr wrap="none" rtlCol="0">
            <a:spAutoFit/>
          </a:bodyPr>
          <a:lstStyle/>
          <a:p>
            <a:pPr algn="ctr"/>
            <a:r>
              <a:rPr kumimoji="1" lang="en-US" altLang="ja-JP" sz="800" dirty="0">
                <a:latin typeface="Meiryo" panose="020B0604030504040204" pitchFamily="34" charset="-128"/>
                <a:ea typeface="Meiryo" panose="020B0604030504040204" pitchFamily="34" charset="-128"/>
              </a:rPr>
              <a:t>3. </a:t>
            </a:r>
            <a:r>
              <a:rPr kumimoji="1" lang="ja-JP" altLang="en-US" sz="800">
                <a:latin typeface="Meiryo" panose="020B0604030504040204" pitchFamily="34" charset="-128"/>
                <a:ea typeface="Meiryo" panose="020B0604030504040204" pitchFamily="34" charset="-128"/>
              </a:rPr>
              <a:t>基本設定画面</a:t>
            </a:r>
          </a:p>
        </p:txBody>
      </p:sp>
      <p:sp>
        <p:nvSpPr>
          <p:cNvPr id="55" name="テキスト ボックス 54">
            <a:extLst>
              <a:ext uri="{FF2B5EF4-FFF2-40B4-BE49-F238E27FC236}">
                <a16:creationId xmlns:a16="http://schemas.microsoft.com/office/drawing/2014/main" id="{11D29709-BB10-6332-6942-AA04708747AB}"/>
              </a:ext>
            </a:extLst>
          </p:cNvPr>
          <p:cNvSpPr txBox="1"/>
          <p:nvPr/>
        </p:nvSpPr>
        <p:spPr>
          <a:xfrm>
            <a:off x="4734812" y="7637544"/>
            <a:ext cx="832279" cy="215444"/>
          </a:xfrm>
          <a:prstGeom prst="rect">
            <a:avLst/>
          </a:prstGeom>
          <a:noFill/>
        </p:spPr>
        <p:txBody>
          <a:bodyPr wrap="none" rtlCol="0">
            <a:spAutoFit/>
          </a:bodyPr>
          <a:lstStyle/>
          <a:p>
            <a:pPr algn="ctr"/>
            <a:r>
              <a:rPr kumimoji="1" lang="en-US" altLang="ja-JP" sz="800" dirty="0">
                <a:latin typeface="Meiryo" panose="020B0604030504040204" pitchFamily="34" charset="-128"/>
                <a:ea typeface="Meiryo" panose="020B0604030504040204" pitchFamily="34" charset="-128"/>
              </a:rPr>
              <a:t>4. </a:t>
            </a:r>
            <a:r>
              <a:rPr kumimoji="1" lang="ja-JP" altLang="en-US" sz="800">
                <a:latin typeface="Meiryo" panose="020B0604030504040204" pitchFamily="34" charset="-128"/>
                <a:ea typeface="Meiryo" panose="020B0604030504040204" pitchFamily="34" charset="-128"/>
              </a:rPr>
              <a:t>平均値画面</a:t>
            </a:r>
          </a:p>
        </p:txBody>
      </p:sp>
      <p:sp>
        <p:nvSpPr>
          <p:cNvPr id="56" name="テキスト ボックス 55">
            <a:extLst>
              <a:ext uri="{FF2B5EF4-FFF2-40B4-BE49-F238E27FC236}">
                <a16:creationId xmlns:a16="http://schemas.microsoft.com/office/drawing/2014/main" id="{67A1D92F-19B9-6A4F-A7A4-1AFE9B1090BB}"/>
              </a:ext>
            </a:extLst>
          </p:cNvPr>
          <p:cNvSpPr txBox="1"/>
          <p:nvPr/>
        </p:nvSpPr>
        <p:spPr>
          <a:xfrm>
            <a:off x="341854" y="10189393"/>
            <a:ext cx="2775119" cy="2062103"/>
          </a:xfrm>
          <a:prstGeom prst="rect">
            <a:avLst/>
          </a:prstGeom>
          <a:noFill/>
        </p:spPr>
        <p:txBody>
          <a:bodyPr wrap="none" rtlCol="0">
            <a:spAutoFit/>
          </a:bodyPr>
          <a:lstStyle/>
          <a:p>
            <a:pPr algn="ctr"/>
            <a:r>
              <a:rPr kumimoji="1" lang="ja-JP" altLang="en-US" sz="800">
                <a:latin typeface="Meiryo" panose="020B0604030504040204" pitchFamily="34" charset="-128"/>
                <a:ea typeface="Meiryo" panose="020B0604030504040204" pitchFamily="34" charset="-128"/>
              </a:rPr>
              <a:t>基本設定する画面</a:t>
            </a:r>
            <a:endParaRPr kumimoji="1" lang="en-US" altLang="ja-JP" sz="800" dirty="0">
              <a:latin typeface="Meiryo" panose="020B0604030504040204" pitchFamily="34" charset="-128"/>
              <a:ea typeface="Meiryo" panose="020B0604030504040204" pitchFamily="34" charset="-128"/>
            </a:endParaRPr>
          </a:p>
          <a:p>
            <a:pPr algn="ctr"/>
            <a:r>
              <a:rPr kumimoji="1" lang="ja-JP" altLang="en-US" sz="800">
                <a:latin typeface="Meiryo" panose="020B0604030504040204" pitchFamily="34" charset="-128"/>
                <a:ea typeface="Meiryo" panose="020B0604030504040204" pitchFamily="34" charset="-128"/>
              </a:rPr>
              <a:t>前年、今年などの年が選べる</a:t>
            </a:r>
            <a:endParaRPr kumimoji="1" lang="en-US" altLang="ja-JP" sz="800" dirty="0">
              <a:latin typeface="Meiryo" panose="020B0604030504040204" pitchFamily="34" charset="-128"/>
              <a:ea typeface="Meiryo" panose="020B0604030504040204" pitchFamily="34" charset="-128"/>
            </a:endParaRPr>
          </a:p>
          <a:p>
            <a:pPr algn="ctr"/>
            <a:r>
              <a:rPr kumimoji="1" lang="ja-JP" altLang="en-US" sz="800">
                <a:latin typeface="Meiryo" panose="020B0604030504040204" pitchFamily="34" charset="-128"/>
                <a:ea typeface="Meiryo" panose="020B0604030504040204" pitchFamily="34" charset="-128"/>
              </a:rPr>
              <a:t>最初は前年を選択し繁閑期設定をする</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年次目標金額設定</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年次総営業日数設定</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繁閑期パーセンテージ算出</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各月、各曜日平均売上額＆繁閑パーセンテージ算出</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今年の目標金額設定</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今年の年次総営業日数設定</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月次目標売上額算出</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繁閑期パーセンテージ設定</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月次リアルヴァージョン目標売上額設定</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日次</a:t>
            </a:r>
            <a:r>
              <a:rPr kumimoji="1" lang="en-US" altLang="ja-JP" sz="800" dirty="0">
                <a:latin typeface="Meiryo" panose="020B0604030504040204" pitchFamily="34" charset="-128"/>
                <a:ea typeface="Meiryo" panose="020B0604030504040204" pitchFamily="34" charset="-128"/>
              </a:rPr>
              <a:t>(</a:t>
            </a:r>
            <a:r>
              <a:rPr kumimoji="1" lang="ja-JP" altLang="en-US" sz="800">
                <a:latin typeface="Meiryo" panose="020B0604030504040204" pitchFamily="34" charset="-128"/>
                <a:ea typeface="Meiryo" panose="020B0604030504040204" pitchFamily="34" charset="-128"/>
              </a:rPr>
              <a:t>曜日目標売上額設定、曜日平均で算出</a:t>
            </a:r>
            <a:endParaRPr kumimoji="1" lang="en-US" altLang="ja-JP" sz="800" dirty="0">
              <a:latin typeface="Meiryo" panose="020B0604030504040204" pitchFamily="34" charset="-128"/>
              <a:ea typeface="Meiryo" panose="020B0604030504040204" pitchFamily="34" charset="-128"/>
            </a:endParaRPr>
          </a:p>
          <a:p>
            <a:pPr algn="ctr"/>
            <a:r>
              <a:rPr kumimoji="1" lang="ja-JP" altLang="en-US" sz="800">
                <a:latin typeface="Meiryo" panose="020B0604030504040204" pitchFamily="34" charset="-128"/>
                <a:ea typeface="Meiryo" panose="020B0604030504040204" pitchFamily="34" charset="-128"/>
              </a:rPr>
              <a:t>上記機能を使うための前年基本設定などの</a:t>
            </a:r>
            <a:endParaRPr kumimoji="1" lang="en-US" altLang="ja-JP" sz="800" dirty="0">
              <a:latin typeface="Meiryo" panose="020B0604030504040204" pitchFamily="34" charset="-128"/>
              <a:ea typeface="Meiryo" panose="020B0604030504040204" pitchFamily="34" charset="-128"/>
            </a:endParaRPr>
          </a:p>
          <a:p>
            <a:pPr algn="ctr"/>
            <a:r>
              <a:rPr kumimoji="1" lang="ja-JP" altLang="en-US" sz="800">
                <a:latin typeface="Meiryo" panose="020B0604030504040204" pitchFamily="34" charset="-128"/>
                <a:ea typeface="Meiryo" panose="020B0604030504040204" pitchFamily="34" charset="-128"/>
              </a:rPr>
              <a:t>様々な設定をする画面</a:t>
            </a:r>
            <a:endParaRPr kumimoji="1" lang="en-US" altLang="ja-JP" sz="800" dirty="0">
              <a:latin typeface="Meiryo" panose="020B0604030504040204" pitchFamily="34" charset="-128"/>
              <a:ea typeface="Meiryo" panose="020B0604030504040204" pitchFamily="34" charset="-128"/>
            </a:endParaRPr>
          </a:p>
        </p:txBody>
      </p:sp>
      <p:sp>
        <p:nvSpPr>
          <p:cNvPr id="57" name="テキスト ボックス 56">
            <a:extLst>
              <a:ext uri="{FF2B5EF4-FFF2-40B4-BE49-F238E27FC236}">
                <a16:creationId xmlns:a16="http://schemas.microsoft.com/office/drawing/2014/main" id="{D6073C42-F145-67A1-CBD2-CEF31BAAA108}"/>
              </a:ext>
            </a:extLst>
          </p:cNvPr>
          <p:cNvSpPr txBox="1"/>
          <p:nvPr/>
        </p:nvSpPr>
        <p:spPr>
          <a:xfrm>
            <a:off x="4064226" y="10255314"/>
            <a:ext cx="2092240" cy="1446550"/>
          </a:xfrm>
          <a:prstGeom prst="rect">
            <a:avLst/>
          </a:prstGeom>
          <a:noFill/>
        </p:spPr>
        <p:txBody>
          <a:bodyPr wrap="none" rtlCol="0">
            <a:spAutoFit/>
          </a:bodyPr>
          <a:lstStyle/>
          <a:p>
            <a:pPr algn="ctr"/>
            <a:r>
              <a:rPr kumimoji="1" lang="ja-JP" altLang="en-US" sz="800">
                <a:latin typeface="Meiryo" panose="020B0604030504040204" pitchFamily="34" charset="-128"/>
                <a:ea typeface="Meiryo" panose="020B0604030504040204" pitchFamily="34" charset="-128"/>
              </a:rPr>
              <a:t>選択した年の</a:t>
            </a:r>
            <a:endParaRPr kumimoji="1" lang="en-US" altLang="ja-JP" sz="800" dirty="0">
              <a:latin typeface="Meiryo" panose="020B0604030504040204" pitchFamily="34" charset="-128"/>
              <a:ea typeface="Meiryo" panose="020B0604030504040204" pitchFamily="34" charset="-128"/>
            </a:endParaRPr>
          </a:p>
          <a:p>
            <a:pPr algn="ctr"/>
            <a:r>
              <a:rPr kumimoji="1" lang="ja-JP" altLang="en-US" sz="800">
                <a:latin typeface="Meiryo" panose="020B0604030504040204" pitchFamily="34" charset="-128"/>
                <a:ea typeface="Meiryo" panose="020B0604030504040204" pitchFamily="34" charset="-128"/>
              </a:rPr>
              <a:t>各月、各曜日の平均売上額、</a:t>
            </a:r>
            <a:endParaRPr kumimoji="1" lang="en-US" altLang="ja-JP" sz="800" dirty="0">
              <a:latin typeface="Meiryo" panose="020B0604030504040204" pitchFamily="34" charset="-128"/>
              <a:ea typeface="Meiryo" panose="020B0604030504040204" pitchFamily="34" charset="-128"/>
            </a:endParaRPr>
          </a:p>
          <a:p>
            <a:pPr algn="ctr"/>
            <a:r>
              <a:rPr kumimoji="1" lang="ja-JP" altLang="en-US" sz="800">
                <a:latin typeface="Meiryo" panose="020B0604030504040204" pitchFamily="34" charset="-128"/>
                <a:ea typeface="Meiryo" panose="020B0604030504040204" pitchFamily="34" charset="-128"/>
              </a:rPr>
              <a:t>平均目標売上額を表示する画面</a:t>
            </a:r>
            <a:endParaRPr kumimoji="1" lang="en-US" altLang="ja-JP" sz="800" dirty="0">
              <a:latin typeface="Meiryo" panose="020B0604030504040204" pitchFamily="34" charset="-128"/>
              <a:ea typeface="Meiryo" panose="020B0604030504040204" pitchFamily="34" charset="-128"/>
            </a:endParaRPr>
          </a:p>
          <a:p>
            <a:pPr algn="ctr"/>
            <a:r>
              <a:rPr kumimoji="1" lang="ja-JP" altLang="en-US" sz="800">
                <a:latin typeface="Meiryo" panose="020B0604030504040204" pitchFamily="34" charset="-128"/>
                <a:ea typeface="Meiryo" panose="020B0604030504040204" pitchFamily="34" charset="-128"/>
              </a:rPr>
              <a:t>各曜日の</a:t>
            </a:r>
            <a:r>
              <a:rPr kumimoji="1" lang="en-US" altLang="ja-JP" sz="800" dirty="0">
                <a:latin typeface="Meiryo" panose="020B0604030504040204" pitchFamily="34" charset="-128"/>
                <a:ea typeface="Meiryo" panose="020B0604030504040204" pitchFamily="34" charset="-128"/>
              </a:rPr>
              <a:t>Bar</a:t>
            </a:r>
            <a:r>
              <a:rPr kumimoji="1" lang="ja-JP" altLang="en-US" sz="800">
                <a:latin typeface="Meiryo" panose="020B0604030504040204" pitchFamily="34" charset="-128"/>
                <a:ea typeface="Meiryo" panose="020B0604030504040204" pitchFamily="34" charset="-128"/>
              </a:rPr>
              <a:t>に表記する内容</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平均売上額</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実績売上額</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達成率</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ランチ・ディナー・全日平均売上額</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ランチ・ディナー ・全日平均客単価</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ランチ・ディナー ・全日平均組数</a:t>
            </a:r>
            <a:endParaRPr kumimoji="1" lang="en-US" altLang="ja-JP" sz="800" dirty="0">
              <a:latin typeface="Meiryo" panose="020B0604030504040204" pitchFamily="34" charset="-128"/>
              <a:ea typeface="Meiryo" panose="020B0604030504040204" pitchFamily="34" charset="-128"/>
            </a:endParaRPr>
          </a:p>
          <a:p>
            <a:pPr marL="228600" indent="-228600" algn="ctr">
              <a:buAutoNum type="arabicPeriod"/>
            </a:pPr>
            <a:r>
              <a:rPr kumimoji="1" lang="ja-JP" altLang="en-US" sz="800">
                <a:latin typeface="Meiryo" panose="020B0604030504040204" pitchFamily="34" charset="-128"/>
                <a:ea typeface="Meiryo" panose="020B0604030504040204" pitchFamily="34" charset="-128"/>
              </a:rPr>
              <a:t>ランチ・ディナー ・全日平均客数</a:t>
            </a:r>
            <a:endParaRPr kumimoji="1" lang="en-US" altLang="ja-JP" sz="800" dirty="0">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796460720"/>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34876</TotalTime>
  <Words>2003</Words>
  <Application>Microsoft Macintosh PowerPoint</Application>
  <PresentationFormat>ワイド画面</PresentationFormat>
  <Paragraphs>183</Paragraphs>
  <Slides>5</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5</vt:i4>
      </vt:variant>
    </vt:vector>
  </HeadingPairs>
  <TitlesOfParts>
    <vt:vector size="10" baseType="lpstr">
      <vt:lpstr>Meiryo</vt:lpstr>
      <vt:lpstr>Aptos</vt:lpstr>
      <vt:lpstr>Aptos Display</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松下真一朗</dc:creator>
  <cp:lastModifiedBy>松下真一朗</cp:lastModifiedBy>
  <cp:revision>7</cp:revision>
  <cp:lastPrinted>2025-06-05T11:33:33Z</cp:lastPrinted>
  <dcterms:created xsi:type="dcterms:W3CDTF">2025-05-31T09:21:56Z</dcterms:created>
  <dcterms:modified xsi:type="dcterms:W3CDTF">2025-07-10T02:26:21Z</dcterms:modified>
</cp:coreProperties>
</file>