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589"/>
  </p:normalViewPr>
  <p:slideViewPr>
    <p:cSldViewPr snapToGrid="0" showGuides="1">
      <p:cViewPr>
        <p:scale>
          <a:sx n="112" d="100"/>
          <a:sy n="112" d="100"/>
        </p:scale>
        <p:origin x="696" y="-4664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5141-573D-7F4B-A753-13E094770F8C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A6591-070D-BA48-A22D-4F293AB149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5378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5141-573D-7F4B-A753-13E094770F8C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A6591-070D-BA48-A22D-4F293AB149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9138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5141-573D-7F4B-A753-13E094770F8C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A6591-070D-BA48-A22D-4F293AB149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29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5141-573D-7F4B-A753-13E094770F8C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A6591-070D-BA48-A22D-4F293AB149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199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5141-573D-7F4B-A753-13E094770F8C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A6591-070D-BA48-A22D-4F293AB149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68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5141-573D-7F4B-A753-13E094770F8C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A6591-070D-BA48-A22D-4F293AB149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2307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5141-573D-7F4B-A753-13E094770F8C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A6591-070D-BA48-A22D-4F293AB149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436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5141-573D-7F4B-A753-13E094770F8C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A6591-070D-BA48-A22D-4F293AB149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779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5141-573D-7F4B-A753-13E094770F8C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A6591-070D-BA48-A22D-4F293AB149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513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5141-573D-7F4B-A753-13E094770F8C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A6591-070D-BA48-A22D-4F293AB149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0082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5141-573D-7F4B-A753-13E094770F8C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A6591-070D-BA48-A22D-4F293AB149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3293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D5141-573D-7F4B-A753-13E094770F8C}" type="datetimeFigureOut">
              <a:rPr kumimoji="1" lang="ja-JP" altLang="en-US" smtClean="0"/>
              <a:t>2025/5/31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3A6591-070D-BA48-A22D-4F293AB149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180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99DE16-AD02-4A09-A39B-B73330EFA7CD}"/>
              </a:ext>
            </a:extLst>
          </p:cNvPr>
          <p:cNvSpPr txBox="1"/>
          <p:nvPr/>
        </p:nvSpPr>
        <p:spPr>
          <a:xfrm>
            <a:off x="2051090" y="128419"/>
            <a:ext cx="2755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KPI-Navigator 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機能詳細</a:t>
            </a:r>
          </a:p>
        </p:txBody>
      </p:sp>
      <p:pic>
        <p:nvPicPr>
          <p:cNvPr id="6" name="図 5" descr="Teams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7A9A24D-6359-84E4-77CE-300E551AA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404" y="1029455"/>
            <a:ext cx="2755819" cy="95353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C971CCE-A4F1-A90B-AEA2-BBA346CBB432}"/>
              </a:ext>
            </a:extLst>
          </p:cNvPr>
          <p:cNvSpPr txBox="1"/>
          <p:nvPr/>
        </p:nvSpPr>
        <p:spPr>
          <a:xfrm>
            <a:off x="2505794" y="567258"/>
            <a:ext cx="2020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①</a:t>
            </a:r>
            <a:r>
              <a:rPr lang="en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【calendar-and-date】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07F48CE-E520-4D8B-6850-AE85D89D8E79}"/>
              </a:ext>
            </a:extLst>
          </p:cNvPr>
          <p:cNvSpPr txBox="1"/>
          <p:nvPr/>
        </p:nvSpPr>
        <p:spPr>
          <a:xfrm>
            <a:off x="248408" y="1191874"/>
            <a:ext cx="2365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1. Calendar-cul1 : </a:t>
            </a:r>
            <a:r>
              <a:rPr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年月日設定</a:t>
            </a:r>
            <a:endParaRPr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BEC3AC9-10A4-A1AA-008D-CCED28E370C7}"/>
              </a:ext>
            </a:extLst>
          </p:cNvPr>
          <p:cNvSpPr txBox="1"/>
          <p:nvPr/>
        </p:nvSpPr>
        <p:spPr>
          <a:xfrm>
            <a:off x="248408" y="2380454"/>
            <a:ext cx="388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2. Calendar-cul2</a:t>
            </a:r>
            <a:r>
              <a:rPr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：本日</a:t>
            </a:r>
            <a:r>
              <a:rPr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or</a:t>
            </a:r>
            <a:r>
              <a:rPr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任意日付の日次データ表示</a:t>
            </a:r>
            <a:endParaRPr lang="en-US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0D8DC4A-ED7E-CDDF-5E3B-C152A6749E17}"/>
              </a:ext>
            </a:extLst>
          </p:cNvPr>
          <p:cNvSpPr txBox="1"/>
          <p:nvPr/>
        </p:nvSpPr>
        <p:spPr>
          <a:xfrm>
            <a:off x="248408" y="3421450"/>
            <a:ext cx="6533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3. Calendar-cul3</a:t>
            </a:r>
            <a:r>
              <a:rPr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：本日</a:t>
            </a:r>
            <a:r>
              <a:rPr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or</a:t>
            </a:r>
            <a:r>
              <a:rPr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任意日付の月次・年次データ表示</a:t>
            </a:r>
            <a:r>
              <a:rPr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 &amp; KPI-Container</a:t>
            </a:r>
            <a:r>
              <a:rPr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の拡張・縮小</a:t>
            </a:r>
            <a:endParaRPr lang="en" altLang="ja-JP" sz="1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02E869A-5C85-3256-6E6D-EAC0DD301074}"/>
              </a:ext>
            </a:extLst>
          </p:cNvPr>
          <p:cNvSpPr txBox="1"/>
          <p:nvPr/>
        </p:nvSpPr>
        <p:spPr>
          <a:xfrm>
            <a:off x="669484" y="1473443"/>
            <a:ext cx="55451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1. 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デフォルト今日の日付を表示</a:t>
            </a:r>
          </a:p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2. 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▲▼ボタンで全日翌日にアクセス</a:t>
            </a:r>
          </a:p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3. 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年月日ボックスはドロップダウンで任意の日付にアクセス</a:t>
            </a:r>
          </a:p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4. 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選択した日付は</a:t>
            </a:r>
            <a:r>
              <a:rPr lang="en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cul2</a:t>
            </a:r>
            <a:r>
              <a:rPr lang="ja-JP" altLang="en" sz="1000">
                <a:latin typeface="Meiryo" panose="020B0604030504040204" pitchFamily="34" charset="-128"/>
                <a:ea typeface="Meiryo" panose="020B0604030504040204" pitchFamily="34" charset="-128"/>
              </a:rPr>
              <a:t>、</a:t>
            </a:r>
            <a:r>
              <a:rPr lang="en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cul3</a:t>
            </a:r>
            <a:r>
              <a:rPr lang="ja-JP" altLang="en" sz="1000">
                <a:latin typeface="Meiryo" panose="020B0604030504040204" pitchFamily="34" charset="-128"/>
                <a:ea typeface="Meiryo" panose="020B0604030504040204" pitchFamily="34" charset="-128"/>
              </a:rPr>
              <a:t>、</a:t>
            </a:r>
            <a:r>
              <a:rPr lang="en" altLang="ja-JP" sz="1000" dirty="0" err="1">
                <a:latin typeface="Meiryo" panose="020B0604030504040204" pitchFamily="34" charset="-128"/>
                <a:ea typeface="Meiryo" panose="020B0604030504040204" pitchFamily="34" charset="-128"/>
              </a:rPr>
              <a:t>Kpi</a:t>
            </a:r>
            <a:r>
              <a:rPr lang="en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-container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にここで選択した日付のデータを表示するため</a:t>
            </a:r>
          </a:p>
        </p:txBody>
      </p:sp>
      <p:pic>
        <p:nvPicPr>
          <p:cNvPr id="13" name="図 12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50EB11E9-5D93-3D81-6929-438EA464D2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80"/>
          <a:stretch>
            <a:fillRect/>
          </a:stretch>
        </p:blipFill>
        <p:spPr>
          <a:xfrm>
            <a:off x="4548554" y="2359817"/>
            <a:ext cx="1957753" cy="713261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79792A8-2A7A-0C3D-674A-C8B2AA1B6B2C}"/>
              </a:ext>
            </a:extLst>
          </p:cNvPr>
          <p:cNvSpPr txBox="1"/>
          <p:nvPr/>
        </p:nvSpPr>
        <p:spPr>
          <a:xfrm>
            <a:off x="669484" y="2846689"/>
            <a:ext cx="3991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cul1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で表記した日程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今日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 or 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任意の日付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の日次データ表記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目標売上、予測売上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 or 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実績売上額、差異、アクション提案を表記</a:t>
            </a:r>
          </a:p>
        </p:txBody>
      </p:sp>
      <p:pic>
        <p:nvPicPr>
          <p:cNvPr id="16" name="図 15" descr="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EDA31DB-9C6C-54E3-50C7-2903EDD3C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554" y="3837075"/>
            <a:ext cx="1975339" cy="833629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9DFD536-9895-BCAF-03B5-20714F5B5B6E}"/>
              </a:ext>
            </a:extLst>
          </p:cNvPr>
          <p:cNvSpPr txBox="1"/>
          <p:nvPr/>
        </p:nvSpPr>
        <p:spPr>
          <a:xfrm>
            <a:off x="661864" y="3758800"/>
            <a:ext cx="4560864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cul1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で表記した日程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今日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 or 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任意の日付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の月次・年次データ表記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【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月次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】</a:t>
            </a: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月次目標売上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月次実績売上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月次差額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月次達成率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【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年次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】</a:t>
            </a: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年次目標売上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年次実績売上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年次差額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年次達成率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追加表示ボタン：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KPI Container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の拡張表示・縮小表示ボタン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月次・年次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E52AD21-F450-4759-8454-9E7993FBE09C}"/>
              </a:ext>
            </a:extLst>
          </p:cNvPr>
          <p:cNvGrpSpPr/>
          <p:nvPr/>
        </p:nvGrpSpPr>
        <p:grpSpPr>
          <a:xfrm>
            <a:off x="162870" y="7109640"/>
            <a:ext cx="6529353" cy="2767823"/>
            <a:chOff x="173030" y="6030745"/>
            <a:chExt cx="6529353" cy="2767823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CAFF0C37-CC45-8AEA-BC02-216DB0F86BE2}"/>
                </a:ext>
              </a:extLst>
            </p:cNvPr>
            <p:cNvSpPr/>
            <p:nvPr/>
          </p:nvSpPr>
          <p:spPr>
            <a:xfrm>
              <a:off x="1853023" y="6606866"/>
              <a:ext cx="1677409" cy="219170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B6DDE0E3-2EE8-41B4-94D7-B67DC066C17B}"/>
                </a:ext>
              </a:extLst>
            </p:cNvPr>
            <p:cNvSpPr/>
            <p:nvPr/>
          </p:nvSpPr>
          <p:spPr>
            <a:xfrm>
              <a:off x="3573830" y="6606866"/>
              <a:ext cx="3118393" cy="2191702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CF22F6C2-4CD2-1D83-DCBD-63E8D8BF0B95}"/>
                </a:ext>
              </a:extLst>
            </p:cNvPr>
            <p:cNvGrpSpPr/>
            <p:nvPr/>
          </p:nvGrpSpPr>
          <p:grpSpPr>
            <a:xfrm>
              <a:off x="173030" y="6030745"/>
              <a:ext cx="6529353" cy="2767823"/>
              <a:chOff x="173030" y="6030745"/>
              <a:chExt cx="6529353" cy="2767823"/>
            </a:xfrm>
          </p:grpSpPr>
          <p:pic>
            <p:nvPicPr>
              <p:cNvPr id="19" name="図 18" descr="テーブル, カレンダー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E4329AB1-3F2B-7747-787B-F08A6DDE2A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3030" y="6625949"/>
                <a:ext cx="6529353" cy="2172619"/>
              </a:xfrm>
              <a:prstGeom prst="rect">
                <a:avLst/>
              </a:prstGeom>
            </p:spPr>
          </p:pic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C7F6186F-9E8A-D11C-227D-D670257FB590}"/>
                  </a:ext>
                </a:extLst>
              </p:cNvPr>
              <p:cNvSpPr txBox="1"/>
              <p:nvPr/>
            </p:nvSpPr>
            <p:spPr>
              <a:xfrm>
                <a:off x="1677349" y="6030745"/>
                <a:ext cx="35242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エクセル表で構築した</a:t>
                </a:r>
                <a:r>
                  <a:rPr lang="en-US" altLang="ja-JP" sz="1200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KPI Navigator</a:t>
                </a:r>
                <a:r>
                  <a:rPr lang="ja-JP" altLang="en-US" sz="1200">
                    <a:latin typeface="Meiryo" panose="020B0604030504040204" pitchFamily="34" charset="-128"/>
                    <a:ea typeface="Meiryo" panose="020B0604030504040204" pitchFamily="34" charset="-128"/>
                  </a:rPr>
                  <a:t>のスクショ</a:t>
                </a:r>
                <a:endParaRPr lang="en" altLang="ja-JP" sz="1200" dirty="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4A2A17EF-E0CA-4ECA-390E-EA5B0EF1FDC5}"/>
                  </a:ext>
                </a:extLst>
              </p:cNvPr>
              <p:cNvSpPr txBox="1"/>
              <p:nvPr/>
            </p:nvSpPr>
            <p:spPr>
              <a:xfrm>
                <a:off x="1917964" y="6351103"/>
                <a:ext cx="162736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000" b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Cul2 &amp; KPI Container</a:t>
                </a:r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C914E7CF-8DAB-48B1-A672-336790D64525}"/>
                  </a:ext>
                </a:extLst>
              </p:cNvPr>
              <p:cNvSpPr txBox="1"/>
              <p:nvPr/>
            </p:nvSpPr>
            <p:spPr>
              <a:xfrm>
                <a:off x="4393622" y="6346959"/>
                <a:ext cx="162736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000" b="1" dirty="0">
                    <a:latin typeface="Meiryo" panose="020B0604030504040204" pitchFamily="34" charset="-128"/>
                    <a:ea typeface="Meiryo" panose="020B0604030504040204" pitchFamily="34" charset="-128"/>
                  </a:rPr>
                  <a:t>Cul2 &amp; KPI Container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6280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34E8092-89D6-D069-59E8-7250D0F43BA0}"/>
              </a:ext>
            </a:extLst>
          </p:cNvPr>
          <p:cNvSpPr txBox="1"/>
          <p:nvPr/>
        </p:nvSpPr>
        <p:spPr>
          <a:xfrm>
            <a:off x="2584345" y="262458"/>
            <a:ext cx="1689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②</a:t>
            </a:r>
            <a:r>
              <a:rPr lang="en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【KPI-Container】</a:t>
            </a:r>
          </a:p>
        </p:txBody>
      </p:sp>
      <p:pic>
        <p:nvPicPr>
          <p:cNvPr id="6" name="図 5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3F251BC-C9A3-544F-C7DD-C4E6A5C72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539457"/>
            <a:ext cx="5588000" cy="385630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D9E193A-5274-46F7-DB27-68ECC6242EB3}"/>
              </a:ext>
            </a:extLst>
          </p:cNvPr>
          <p:cNvSpPr txBox="1"/>
          <p:nvPr/>
        </p:nvSpPr>
        <p:spPr>
          <a:xfrm>
            <a:off x="219339" y="4534258"/>
            <a:ext cx="1431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1. </a:t>
            </a:r>
            <a:r>
              <a:rPr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KPI-Container</a:t>
            </a:r>
          </a:p>
        </p:txBody>
      </p:sp>
      <p:pic>
        <p:nvPicPr>
          <p:cNvPr id="9" name="図 8" descr="グラフィカル ユーザー インターフェイス, 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7456F6AE-4161-5587-8040-D77639583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350" y="4534258"/>
            <a:ext cx="3930650" cy="4404698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7BB7AD6-93C6-7AEC-EDE6-CC181B04D12B}"/>
              </a:ext>
            </a:extLst>
          </p:cNvPr>
          <p:cNvSpPr txBox="1"/>
          <p:nvPr/>
        </p:nvSpPr>
        <p:spPr>
          <a:xfrm>
            <a:off x="110684" y="4811257"/>
            <a:ext cx="304442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KPI-Container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はページ内にある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メインパートです。名んページ中央にある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ボックスコンテンツ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2. daily-bar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的なものは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365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日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閏年は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366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日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3. daily-bar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の本日・任意の日程は虫眼鏡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</a:p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Magnifying glass daily Bar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の様にボックス内に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表示されている、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daily bar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の上から五段目あた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りに固定表示、年始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1/1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は前年の虫眼鏡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bar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の上に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は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daily bar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が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4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日分見えている、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12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月中旬以降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翌年部分は見えてくる。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4. calendar-and-date cul1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で選択した日程が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固定された虫眼鏡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bar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に入ってくる、その際は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アニメーションでビューーンと言った感じで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飛ぶ。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2" name="図 11" descr="パソコン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7143FC60-6ADE-CBC0-6378-E9A8CDCBF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0" y="7968712"/>
            <a:ext cx="2890520" cy="750423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A794FE3-F38C-33C9-1021-7D748E9BA735}"/>
              </a:ext>
            </a:extLst>
          </p:cNvPr>
          <p:cNvSpPr/>
          <p:nvPr/>
        </p:nvSpPr>
        <p:spPr>
          <a:xfrm>
            <a:off x="3104607" y="5239741"/>
            <a:ext cx="3501933" cy="56669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13B04C40-B845-CCC7-FF0D-A2ECE60DF811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2727128" y="5857254"/>
            <a:ext cx="948045" cy="201335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307B22E-1BA1-540E-F6E3-32E97E01D047}"/>
              </a:ext>
            </a:extLst>
          </p:cNvPr>
          <p:cNvSpPr/>
          <p:nvPr/>
        </p:nvSpPr>
        <p:spPr>
          <a:xfrm>
            <a:off x="205369" y="8112305"/>
            <a:ext cx="2437673" cy="44694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95A0A29-34D0-1238-B209-AED7217A1400}"/>
              </a:ext>
            </a:extLst>
          </p:cNvPr>
          <p:cNvSpPr txBox="1"/>
          <p:nvPr/>
        </p:nvSpPr>
        <p:spPr>
          <a:xfrm>
            <a:off x="17732" y="7747493"/>
            <a:ext cx="27093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【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イメージ：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Daily Magnifying glass bar】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435EAC1-4764-A925-413A-A730F848F555}"/>
              </a:ext>
            </a:extLst>
          </p:cNvPr>
          <p:cNvSpPr txBox="1"/>
          <p:nvPr/>
        </p:nvSpPr>
        <p:spPr>
          <a:xfrm>
            <a:off x="110684" y="9322382"/>
            <a:ext cx="6598281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1. calendar-and-date cul3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の追加表示ボタン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</a:p>
          <a:p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閉じる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と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Magnifying glass bar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の右端に▶︎ボタ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ンで拡張、◀︎で閉じる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2. 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本日の売上額の入力は別ページ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『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月次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』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ページで入力した金額が、飛んでくる。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3. 365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日分ある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daily-bar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に記入されているデータの今年の目標額は、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KPI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設定ページ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後でコンセプト作成予定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前年の日次の売上を全て入力する必要あり→繁閑月・曜日を設定し、今年の目標売上額から算出して返す。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4. 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要素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【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日次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】</a:t>
            </a: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本日の売上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本日の目標売上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差額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達成率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3D85106-6658-9B47-3AF7-F328C5D16F76}"/>
              </a:ext>
            </a:extLst>
          </p:cNvPr>
          <p:cNvSpPr txBox="1"/>
          <p:nvPr/>
        </p:nvSpPr>
        <p:spPr>
          <a:xfrm>
            <a:off x="219339" y="9013310"/>
            <a:ext cx="28066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2. </a:t>
            </a:r>
            <a:r>
              <a:rPr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Daily magnifying glass bar(</a:t>
            </a:r>
            <a:r>
              <a:rPr lang="ja-JP" altLang="en-US" sz="1200">
                <a:latin typeface="Meiryo" panose="020B0604030504040204" pitchFamily="34" charset="-128"/>
                <a:ea typeface="Meiryo" panose="020B0604030504040204" pitchFamily="34" charset="-128"/>
              </a:rPr>
              <a:t>仮名</a:t>
            </a:r>
            <a:r>
              <a:rPr lang="en-US" altLang="ja-JP" sz="12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2721E2B-461A-2B17-D5EE-F9DF89EE724C}"/>
              </a:ext>
            </a:extLst>
          </p:cNvPr>
          <p:cNvSpPr txBox="1"/>
          <p:nvPr/>
        </p:nvSpPr>
        <p:spPr>
          <a:xfrm>
            <a:off x="1639393" y="10553489"/>
            <a:ext cx="144142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【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月次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】</a:t>
            </a: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月次実質売上額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月次目標類上げ額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差額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年次達成率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B69D9E6-3067-F059-C659-2CE29114FD33}"/>
              </a:ext>
            </a:extLst>
          </p:cNvPr>
          <p:cNvSpPr txBox="1"/>
          <p:nvPr/>
        </p:nvSpPr>
        <p:spPr>
          <a:xfrm>
            <a:off x="3256687" y="10553489"/>
            <a:ext cx="144142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【</a:t>
            </a: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年次</a:t>
            </a:r>
            <a:r>
              <a:rPr lang="en-US" altLang="ja-JP" sz="1000" dirty="0">
                <a:latin typeface="Meiryo" panose="020B0604030504040204" pitchFamily="34" charset="-128"/>
                <a:ea typeface="Meiryo" panose="020B0604030504040204" pitchFamily="34" charset="-128"/>
              </a:rPr>
              <a:t>】</a:t>
            </a: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年次実質売上額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年次目標類上げ額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差額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28600" indent="-228600">
              <a:buAutoNum type="arabicPeriod"/>
            </a:pPr>
            <a:r>
              <a:rPr lang="ja-JP" altLang="en-US" sz="1000">
                <a:latin typeface="Meiryo" panose="020B0604030504040204" pitchFamily="34" charset="-128"/>
                <a:ea typeface="Meiryo" panose="020B0604030504040204" pitchFamily="34" charset="-128"/>
              </a:rPr>
              <a:t>年次達成率</a:t>
            </a:r>
            <a:endParaRPr lang="en-US" altLang="ja-JP" sz="1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1807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1131</TotalTime>
  <Words>503</Words>
  <Application>Microsoft Macintosh PowerPoint</Application>
  <PresentationFormat>ワイド画面</PresentationFormat>
  <Paragraphs>68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Meiryo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松下真一朗</dc:creator>
  <cp:lastModifiedBy>松下真一朗</cp:lastModifiedBy>
  <cp:revision>2</cp:revision>
  <cp:lastPrinted>2025-06-01T04:13:42Z</cp:lastPrinted>
  <dcterms:created xsi:type="dcterms:W3CDTF">2025-05-31T09:21:56Z</dcterms:created>
  <dcterms:modified xsi:type="dcterms:W3CDTF">2025-06-01T04:13:52Z</dcterms:modified>
</cp:coreProperties>
</file>